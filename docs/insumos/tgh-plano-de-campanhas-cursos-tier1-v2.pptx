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12192000"/>
  <p:embeddedFontLst>
    <p:embeddedFont>
      <p:font typeface="Funnel Display"/>
      <p:regular r:id="rId32"/>
      <p:bold r:id="rId33"/>
    </p:embeddedFont>
    <p:embeddedFont>
      <p:font typeface="Source Serif 4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LQggh5PLmHMegspqX71HpiEA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A353AE-BB73-49C4-B667-F8B619DF2A8E}">
  <a:tblStyle styleId="{DEA353AE-BB73-49C4-B667-F8B619DF2A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FunnelDisplay-bold.fntdata"/><Relationship Id="rId10" Type="http://schemas.openxmlformats.org/officeDocument/2006/relationships/slide" Target="slides/slide5.xml"/><Relationship Id="rId32" Type="http://schemas.openxmlformats.org/officeDocument/2006/relationships/font" Target="fonts/FunnelDisplay-regular.fntdata"/><Relationship Id="rId13" Type="http://schemas.openxmlformats.org/officeDocument/2006/relationships/slide" Target="slides/slide8.xml"/><Relationship Id="rId35" Type="http://schemas.openxmlformats.org/officeDocument/2006/relationships/font" Target="fonts/SourceSerif4-bold.fntdata"/><Relationship Id="rId12" Type="http://schemas.openxmlformats.org/officeDocument/2006/relationships/slide" Target="slides/slide7.xml"/><Relationship Id="rId34" Type="http://schemas.openxmlformats.org/officeDocument/2006/relationships/font" Target="fonts/SourceSerif4-regular.fntdata"/><Relationship Id="rId15" Type="http://schemas.openxmlformats.org/officeDocument/2006/relationships/slide" Target="slides/slide10.xml"/><Relationship Id="rId37" Type="http://schemas.openxmlformats.org/officeDocument/2006/relationships/font" Target="fonts/SourceSerif4-boldItalic.fntdata"/><Relationship Id="rId14" Type="http://schemas.openxmlformats.org/officeDocument/2006/relationships/slide" Target="slides/slide9.xml"/><Relationship Id="rId36" Type="http://schemas.openxmlformats.org/officeDocument/2006/relationships/font" Target="fonts/SourceSerif4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Apresentação do plano de campanhas dos cursos tier 1 da UFAPE Intercursos. O plano responde três perguntas: onde investir, com a segmentação por localidade; quem impactar, com a estratégia de públicos; e quanto destinar a cada curso, com o plano por curso.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apresentação tem três tópicos e uma conclusão. Primeiro, a segmentação por localidade, que define as cinco praças e a divisão de verba entre elas. Depois, a estratégia de públicos, que explica por que os cursos de nicho usam um público base de veterinários formados. Em seguida, o plano por curso, com um par de slides para cada curso tier 1. Por fim, a conclusão com o resumo e os próximos passos.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Apresentação da estratégia de segmentação geográfica das campanhas da UFAPE. A base analisada tem 10.447 cadastros consolidados. As cinco praças priorizadas concentram 76,7% desse total.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São Paulo concentra 49,3% da base e supera, sozinho, a soma dos 14 estados seguintes. A capital tem 2.251 cadastros, mas o restante do estado tem mais: 2.900. Por isso separamos em duas campanhas. Na campanha do estado excluímos o município de São Paulo; na da capital usamos só o município, sem raio, para não disputar o mesmo público no leilão.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Goiás é só o 11º estado em população, mas é o 3º na base. Proporcionalmente, GO e DF têm mais que o dobro da penetração de MG e RJ, efeito da unidade em Goiânia. O Sul tem três estados de volume parecido e público no interior, então segmentamos cada estado inteiro em conjuntos separados. Em MG, a capital tem só um terço do estado, então a campanha cobre o estado todo.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verba segue o volume de cadastros de cada praça, com uma exceção deliberada: Goiás e DF recebem 20% para 9,1% da base, porque a unidade em Goiânia gera demanda acima do esperado e o histórico de mídia na praça já entrega CPA abaixo da média. Os gráficos de origem mostram cadastros, não compras; a recomendação é validar o ranking com as vendas por localidade e revisar a divisão após as primeiras semanas.</a:t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Abertura do tópico de estratégia de públicos. Os cursos da UFAPE são de nicho e não existem como interesse no Meta. A estratégia usa um público base de veterinários formados, e a especialidade de cada curso chega ao público pelo criativo, pela estrutura das campanhas e por públicos próprios.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Nenhum dos cursos tier 1 da UFAPE existe como interesse veterinário no Meta: Cardiorrespiratório, Gastroenterologia, Nefrologia, Hematologia, Diagnóstico por imagem, Endoscopia e Cirurgia de pequenos animais. As especialidades aparecem só como campo de estudo ou cargo, e quase sempre de medicina humana. Testamos as duas formas possíveis de usar a especialidade no público. Como condição obrigatória, junto com veterinário e formado, o público caiu para menos de mil pessoas, porque quase nenhum veterinário declara a especialidade no perfil. Como condição opcional, o público volta a milhões, mas o que entra a mais são médicos de humanos. Por isso não faz sentido segmentar por curso: a base é única, de veterinários formados, e a especialidade chega pelo criativo, pela estrutura das campanhas e por públicos próprios.</a:t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público base tem duas condições que precisam ser verdadeiras ao mesmo tempo: ser veterinário, por campo de estudo ou cargo, e ser formado, por nível educacional. Ele é salvo uma vez como UFAPE · Veterinários formados e usado em todos os cursos. No conjunto de anúncios, o Advantage+ Audience fica desligado, porque com ele ligado as condições viram apenas sugestões. No exemplo real, o público do Estado de São Paulo usa a base de veterinários formados, com o estado de SP como localização e a cidade de São Paulo mais 40 km excluída, para não disputar público com a campanha da capital. A especialidade de cada curso fica a cargo do criativo.</a:t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Abertura do plano por curso. Depois de definir onde investir e quem impactar, este tópico aplica as duas estratégias a cada um dos cursos tier 1, com o histórico de mídia de cada um e os próximos passos.</a:t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Nefrologia e Urologia Veterinária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Nefrologia e Urologia Veterinária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221" name="Google Shape;2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Cardiorrespiratório Veterinário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282" name="Google Shape;2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Cardiorrespiratório Veterinário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306" name="Google Shape;3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Cirurgia de Pequenos Animais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367" name="Google Shape;3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Cirurgia de Pequenos Animais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391" name="Google Shape;3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Diagnóstico por Imagem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452" name="Google Shape;45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Diagnóstico por Imagem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476" name="Google Shape;4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Endoscopia Veterinária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537" name="Google Shape;5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Endoscopia Veterinária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561" name="Google Shape;56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Gastroenterologia Veterinária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622" name="Google Shape;62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Gastroenterologia Veterinária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646" name="Google Shape;6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Hematologia Veterinária é uma pós-graduação com oferta para diversas localidades. O curso segue as duas estratégias do plano: roda em cinco campanhas, uma por região, com a divisão de verba do slide de investimento, e usa o público base de veterinários formados. Os anúncios usam formatos estático e vídeo, e a especialidade fica clara no criativo, logo no início do anúncio. Observação importante: como a UFAPE tem unidade em Goiás, a recomendação é ampliar a oferta de cursos nessa praça, que receberá mais visibilidade.</a:t>
            </a:r>
            <a:endParaRPr/>
          </a:p>
        </p:txBody>
      </p:sp>
      <p:sp>
        <p:nvSpPr>
          <p:cNvPr id="707" name="Google Shape;70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Hematologia Veterinária roda em cinco campanhas, uma para cada região, e a divisão percentual é sempre a mesma, seja qual for a verba liberada para o curso. Com o budget inicial de R$ 3.000, ficam R$ 900 para o Estado de SP sem a capital, R$ 750 para a Capital, R$ 600 para Goiás e DF, R$ 420 para o Sul e R$ 330 para Minas Gerais. Se a verba for de R$ 2.000 ou de R$ 5.000, os percentuais se mantêm e só os valores mudam. A divisão segue a base de cadastros: São Paulo concentra metade da base e recebe 55%, e Goiás e DF recebem peso extra por causa da unidade. Separar uma campanha por região permite comparar o custo de cada praça e, depois das primeiras semanas, mover a verba para onde a matrícula sai mais barata.</a:t>
            </a:r>
            <a:endParaRPr/>
          </a:p>
        </p:txBody>
      </p:sp>
      <p:sp>
        <p:nvSpPr>
          <p:cNvPr id="731" name="Google Shape;7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 essa combinação de estratégias, conseguimos ao mesmo tempo priorizar as praças core, como São Paulo, e testar a aderência de outras regiões promissoras do Brasil. Como cada curso terá uma aderência própria em cada estado, é fundamental enxergar o fim do funil: cruzar os dados do CRM e do comercial com a performance das campanhas, conectando Marketing e Vendas. A recomendação é fazer essa leitura e esse cruzamento toda semana, identificando os cursos top sellers e os possíveis gargalos, e usar essa leitura para realocar a verba entre cursos e praças.</a:t>
            </a:r>
            <a:endParaRPr/>
          </a:p>
        </p:txBody>
      </p:sp>
      <p:sp>
        <p:nvSpPr>
          <p:cNvPr id="792" name="Google Shape;79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 fechar: o plano define onde investir, com cinco praças que concentram 76,7% da base e São Paulo com 55% da verba; quem impactar, com um público base de veterinários formados e a especialidade no criativo; e quanto investir, com R$ 3.000 por curso tier 1, sempre na mesma divisão por região. Somando os sete cursos, o investimento total é de R$ 21.000 por mês. Por região, isso representa R$ 6.300 no Estado de SP sem a capital, R$ 5.250 na Capital, R$ 4.200 em Goiás e DF, R$ 2.940 no Sul e R$ 2.310 em Minas Gerais. Depois das primeiras semanas, a verba é realocada para as praças com menor custo por matrícula. Obrigado.</a:t>
            </a:r>
            <a:endParaRPr/>
          </a:p>
        </p:txBody>
      </p:sp>
      <p:sp>
        <p:nvSpPr>
          <p:cNvPr id="813" name="Google Shape;81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>
            <p:ph type="title"/>
          </p:nvPr>
        </p:nvSpPr>
        <p:spPr>
          <a:xfrm>
            <a:off x="812774" y="1023683"/>
            <a:ext cx="10566389" cy="640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  <a:defRPr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" type="body"/>
          </p:nvPr>
        </p:nvSpPr>
        <p:spPr>
          <a:xfrm>
            <a:off x="812774" y="1968551"/>
            <a:ext cx="10566426" cy="407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F1F3D"/>
              </a:buClr>
              <a:buSzPts val="1600"/>
              <a:buNone/>
              <a:defRPr sz="1600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12774" y="1023683"/>
            <a:ext cx="10566389" cy="640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  <a:defRPr b="0" i="0" sz="48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12774" y="1968551"/>
            <a:ext cx="10566426" cy="407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774" y="812774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INTERCURSOS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774" y="2143776"/>
            <a:ext cx="10464691" cy="1569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6400"/>
              <a:buFont typeface="Funnel Display"/>
              <a:buNone/>
            </a:pPr>
            <a:r>
              <a:rPr b="0" i="0" lang="en-US" sz="6400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Plano de campanhas. </a:t>
            </a:r>
            <a:r>
              <a:rPr b="0" i="0" lang="en-US" sz="6400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Cursos tier 1.</a:t>
            </a:r>
            <a:endParaRPr sz="6400"/>
          </a:p>
        </p:txBody>
      </p:sp>
      <p:sp>
        <p:nvSpPr>
          <p:cNvPr id="23" name="Google Shape;23;p1"/>
          <p:cNvSpPr/>
          <p:nvPr/>
        </p:nvSpPr>
        <p:spPr>
          <a:xfrm>
            <a:off x="812774" y="3941922"/>
            <a:ext cx="7521541" cy="6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700"/>
              <a:buFont typeface="Funnel Display"/>
              <a:buNone/>
            </a:pPr>
            <a:r>
              <a:rPr b="0" i="0" lang="en-US" sz="17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Onde investir, quem impactar e quanto destinar a cada curso de pós-graduação veterinária no Meta Ads.</a:t>
            </a:r>
            <a:endParaRPr b="0" i="0" sz="17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812774" y="5675747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F2F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812774" y="5831910"/>
            <a:ext cx="155885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OUTUBRO 2026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496458" y="5831910"/>
            <a:ext cx="18827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GROWTH HUB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812774" y="711150"/>
            <a:ext cx="10883381" cy="234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196"/>
              <a:buFont typeface="Funnel Display"/>
              <a:buNone/>
            </a:pPr>
            <a:r>
              <a:rPr b="0" i="0" lang="en-US" sz="1196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ÍNDICE</a:t>
            </a:r>
            <a:endParaRPr b="0" i="0" sz="1196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3" name="Google Shape;33;p2"/>
          <p:cNvSpPr txBox="1"/>
          <p:nvPr>
            <p:ph type="title"/>
          </p:nvPr>
        </p:nvSpPr>
        <p:spPr>
          <a:xfrm>
            <a:off x="812774" y="1021456"/>
            <a:ext cx="10883381" cy="6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725"/>
              <a:buFont typeface="Source Serif 4"/>
              <a:buNone/>
            </a:pPr>
            <a:r>
              <a:rPr b="1" i="0" lang="en-US" sz="4725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vamos apresentar</a:t>
            </a:r>
            <a:endParaRPr sz="4725"/>
          </a:p>
        </p:txBody>
      </p:sp>
      <p:cxnSp>
        <p:nvCxnSpPr>
          <p:cNvPr id="34" name="Google Shape;34;p2"/>
          <p:cNvCxnSpPr/>
          <p:nvPr/>
        </p:nvCxnSpPr>
        <p:spPr>
          <a:xfrm>
            <a:off x="812774" y="175317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2"/>
          <p:cNvCxnSpPr/>
          <p:nvPr/>
        </p:nvCxnSpPr>
        <p:spPr>
          <a:xfrm>
            <a:off x="812774" y="3035870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812774" y="2125190"/>
            <a:ext cx="939765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A8781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904878" y="2250399"/>
            <a:ext cx="3183056" cy="665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Segmentação por localidade</a:t>
            </a:r>
            <a:endParaRPr b="0" i="0" sz="1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198363" y="2306048"/>
            <a:ext cx="6366224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Onde investir: cinco praças que concentram 76,7% da base de cadastros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812774" y="4031023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812774" y="3204142"/>
            <a:ext cx="939765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A8781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904878" y="3329352"/>
            <a:ext cx="3183056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Estratégia de Públicos</a:t>
            </a:r>
            <a:endParaRPr b="0" i="0" sz="1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198363" y="3385000"/>
            <a:ext cx="6366224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Quem impactar: um público base de veterinários formados para todos os cursos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812774" y="50260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812774" y="4199296"/>
            <a:ext cx="939765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A8781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904878" y="4324506"/>
            <a:ext cx="3183056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Plano por curso</a:t>
            </a:r>
            <a:endParaRPr b="0" i="0" sz="1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98363" y="4380154"/>
            <a:ext cx="6366224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Quanto investir: público, localização e verba de cada um dos sete cursos tier 1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2774" y="5194341"/>
            <a:ext cx="939765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A8781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904878" y="5319550"/>
            <a:ext cx="3183056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Conclusão</a:t>
            </a:r>
            <a:endParaRPr b="0" i="0" sz="1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198363" y="5375200"/>
            <a:ext cx="6366224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Resumo do plano e próximos passos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2774" y="6238296"/>
            <a:ext cx="352581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856023" y="6238296"/>
            <a:ext cx="52314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Índice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812774" y="812774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INTERCURSOS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8" name="Google Shape;58;p3"/>
          <p:cNvSpPr txBox="1"/>
          <p:nvPr>
            <p:ph type="title"/>
          </p:nvPr>
        </p:nvSpPr>
        <p:spPr>
          <a:xfrm>
            <a:off x="812774" y="2258333"/>
            <a:ext cx="9810682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5600"/>
              <a:buFont typeface="Funnel Display"/>
              <a:buNone/>
            </a:pPr>
            <a:r>
              <a:rPr b="0" i="0" lang="en-US" sz="5600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Segmentação por localidade. </a:t>
            </a:r>
            <a:r>
              <a:rPr b="0" i="0" lang="en-US" sz="5600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Onde investir em cada praça.</a:t>
            </a:r>
            <a:endParaRPr sz="5600"/>
          </a:p>
        </p:txBody>
      </p:sp>
      <p:sp>
        <p:nvSpPr>
          <p:cNvPr id="59" name="Google Shape;59;p3"/>
          <p:cNvSpPr/>
          <p:nvPr/>
        </p:nvSpPr>
        <p:spPr>
          <a:xfrm>
            <a:off x="812774" y="3863231"/>
            <a:ext cx="6540417" cy="60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Estratégia de campanhas construída a partir de 10.447 cadastros consolidados. As cinco praças priorizadas cobrem 76,7% da base.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812774" y="5675747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F2F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>
            <a:off x="812774" y="5831909"/>
            <a:ext cx="155885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OUTUBRO 2026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496458" y="5831909"/>
            <a:ext cx="18827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GROWTH HUB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812774" y="812774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01 · SÃO PAULO UNIFICADO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" name="Google Shape;69;p4"/>
          <p:cNvSpPr txBox="1"/>
          <p:nvPr>
            <p:ph type="title"/>
          </p:nvPr>
        </p:nvSpPr>
        <p:spPr>
          <a:xfrm>
            <a:off x="812774" y="1330785"/>
            <a:ext cx="9810682" cy="86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3300"/>
              <a:buFont typeface="Funnel Display"/>
              <a:buNone/>
            </a:pPr>
            <a:r>
              <a:rPr b="0" i="0" lang="en-US" sz="3300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Metade da base está em um só estado. </a:t>
            </a:r>
            <a:r>
              <a:rPr b="0" i="0" lang="en-US" sz="3300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Um em cada dois cadastros.</a:t>
            </a:r>
            <a:endParaRPr sz="3300"/>
          </a:p>
        </p:txBody>
      </p:sp>
      <p:cxnSp>
        <p:nvCxnSpPr>
          <p:cNvPr id="70" name="Google Shape;70;p4"/>
          <p:cNvCxnSpPr/>
          <p:nvPr/>
        </p:nvCxnSpPr>
        <p:spPr>
          <a:xfrm>
            <a:off x="812774" y="2476929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1214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812774" y="2734608"/>
            <a:ext cx="4360316" cy="1054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9000"/>
              <a:buFont typeface="Funnel Display"/>
              <a:buNone/>
            </a:pPr>
            <a:r>
              <a:rPr b="0" i="0" lang="en-US" sz="90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49,3%</a:t>
            </a:r>
            <a:endParaRPr b="0" i="0" sz="90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12774" y="3864753"/>
            <a:ext cx="4360316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5.151 de 10.447 cadastros. SP sozinho supera a soma dos 14 estados seguintes (4.636).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5452477" y="3149885"/>
            <a:ext cx="5926686" cy="0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/>
          <p:nvPr/>
        </p:nvSpPr>
        <p:spPr>
          <a:xfrm>
            <a:off x="5452477" y="2734608"/>
            <a:ext cx="3115496" cy="3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896476" y="2734608"/>
            <a:ext cx="1482688" cy="3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2.900 · 27,8%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5452477" y="3746042"/>
            <a:ext cx="5926686" cy="0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5452477" y="3330766"/>
            <a:ext cx="813209" cy="3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896476" y="3330766"/>
            <a:ext cx="1482688" cy="3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2.251 · 21,5%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52477" y="3926923"/>
            <a:ext cx="6104486" cy="105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Fora da capital estão 56% de SP: região metropolitana (658), interior e litoral do top 20 (418) e cerca de 1.824 cadastros espalhados por outras cidades. Por isso São Paulo roda em duas campanhas, com exclusão cruzada entre elas.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12774" y="6238298"/>
            <a:ext cx="31760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Segmentação por localidade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153157" y="6238298"/>
            <a:ext cx="2260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812774" y="812772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02 · PRAÇAS FORA DE SÃO PAULO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8" name="Google Shape;88;p5"/>
          <p:cNvSpPr txBox="1"/>
          <p:nvPr>
            <p:ph type="title"/>
          </p:nvPr>
        </p:nvSpPr>
        <p:spPr>
          <a:xfrm>
            <a:off x="812774" y="1330784"/>
            <a:ext cx="9810682" cy="86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3300"/>
              <a:buFont typeface="Funnel Display"/>
              <a:buNone/>
            </a:pPr>
            <a:r>
              <a:rPr b="0" i="0" lang="en-US" sz="3300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Três praças com perfis distintos. </a:t>
            </a:r>
            <a:r>
              <a:rPr b="0" i="0" lang="en-US" sz="3300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Uma delas tem unidade própria.</a:t>
            </a:r>
            <a:endParaRPr sz="3300"/>
          </a:p>
        </p:txBody>
      </p:sp>
      <p:cxnSp>
        <p:nvCxnSpPr>
          <p:cNvPr id="89" name="Google Shape;89;p5"/>
          <p:cNvCxnSpPr/>
          <p:nvPr/>
        </p:nvCxnSpPr>
        <p:spPr>
          <a:xfrm>
            <a:off x="812774" y="24769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1214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5"/>
          <p:cNvSpPr/>
          <p:nvPr/>
        </p:nvSpPr>
        <p:spPr>
          <a:xfrm>
            <a:off x="812774" y="2709283"/>
            <a:ext cx="336620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12774" y="3049479"/>
            <a:ext cx="3366205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2800"/>
              <a:buFont typeface="Funnel Display"/>
              <a:buNone/>
            </a:pPr>
            <a:r>
              <a:rPr b="0" i="0" lang="en-US" sz="28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947 · 9,1%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12774" y="3674222"/>
            <a:ext cx="3366205" cy="982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Praça da unidade UFAPE em Goiânia. Penetração de ~92 cadastros por milhão de habitantes em GO e ~105 no DF, mais que o dobro de MG e RJ.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12774" y="4758500"/>
            <a:ext cx="3366205" cy="45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Raio de 30 a 50 km da unidade · restante de GO · Brasília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94" name="Google Shape;94;p5"/>
          <p:cNvCxnSpPr/>
          <p:nvPr/>
        </p:nvCxnSpPr>
        <p:spPr>
          <a:xfrm>
            <a:off x="4338007" y="2480711"/>
            <a:ext cx="0" cy="2704284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5"/>
          <p:cNvSpPr/>
          <p:nvPr/>
        </p:nvSpPr>
        <p:spPr>
          <a:xfrm>
            <a:off x="4595684" y="2709283"/>
            <a:ext cx="309763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REGIÃO SUL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95684" y="3049479"/>
            <a:ext cx="3097639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2800"/>
              <a:buFont typeface="Funnel Display"/>
              <a:buNone/>
            </a:pPr>
            <a:r>
              <a:rPr b="0" i="0" lang="en-US" sz="28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1.099 · 10,5%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95684" y="3674222"/>
            <a:ext cx="3097639" cy="982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RS 386 · PR 371 · SC 342. Volume equilibrado e público espalhado pelo interior: nenhuma capital passa de 42% do estado.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95684" y="4758500"/>
            <a:ext cx="3261313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Uma campanha · um conjunto por estado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7860172" y="2480711"/>
            <a:ext cx="0" cy="2704284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8117850" y="2709283"/>
            <a:ext cx="33590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117850" y="3049479"/>
            <a:ext cx="3359041" cy="52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2800"/>
              <a:buFont typeface="Funnel Display"/>
              <a:buNone/>
            </a:pPr>
            <a:r>
              <a:rPr b="0" i="0" lang="en-US" sz="28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819 · 7,8%</a:t>
            </a:r>
            <a:endParaRPr b="0" i="0" sz="28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117850" y="3674222"/>
            <a:ext cx="3359041" cy="982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Segundo estado em volume. Belo Horizonte concentra só 34%, então focar na capital deixaria dois terços do público de fora.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117850" y="4758500"/>
            <a:ext cx="33590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inteiro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12774" y="6238295"/>
            <a:ext cx="31760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Segmentação por localidade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1153157" y="6238295"/>
            <a:ext cx="2260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812774" y="812775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03 · DIVISÃO DE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12" name="Google Shape;112;p6"/>
          <p:cNvSpPr txBox="1"/>
          <p:nvPr>
            <p:ph type="title"/>
          </p:nvPr>
        </p:nvSpPr>
        <p:spPr>
          <a:xfrm>
            <a:off x="812774" y="1305353"/>
            <a:ext cx="9810682" cy="86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3300"/>
              <a:buFont typeface="Funnel Display"/>
              <a:buNone/>
            </a:pPr>
            <a:r>
              <a:rPr b="0" i="0" lang="en-US" sz="3300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Verba proporcional ao volume. </a:t>
            </a:r>
            <a:r>
              <a:rPr b="0" i="0" lang="en-US" sz="3300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Peso extra onde há unidade.</a:t>
            </a:r>
            <a:endParaRPr sz="3300"/>
          </a:p>
        </p:txBody>
      </p:sp>
      <p:graphicFrame>
        <p:nvGraphicFramePr>
          <p:cNvPr id="113" name="Google Shape;113;p6"/>
          <p:cNvGraphicFramePr/>
          <p:nvPr/>
        </p:nvGraphicFramePr>
        <p:xfrm>
          <a:off x="819730" y="2429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{DEA353AE-BB73-49C4-B667-F8B619DF2A8E}</a:tableStyleId>
              </a:tblPr>
              <a:tblGrid>
                <a:gridCol w="2723025"/>
                <a:gridCol w="1183925"/>
                <a:gridCol w="1006325"/>
                <a:gridCol w="1006325"/>
              </a:tblGrid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259"/>
                        </a:buClr>
                        <a:buSzPts val="1300"/>
                        <a:buFont typeface="Funnel Display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D6259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Campanha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259"/>
                        </a:buClr>
                        <a:buSzPts val="1300"/>
                        <a:buFont typeface="Funnel Display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D6259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Cadastros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259"/>
                        </a:buClr>
                        <a:buSzPts val="1300"/>
                        <a:buFont typeface="Funnel Display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D6259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% base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259"/>
                        </a:buClr>
                        <a:buSzPts val="1300"/>
                        <a:buFont typeface="Funnel Display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D6259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Verba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1. Estado de SP sem a capital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2.900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27,8%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C2F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434C2F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30%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2. Capital SP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2.251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21,5%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C2F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434C2F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25%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3. Goiás + DF (unidade)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947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9,1%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C2F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434C2F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20%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4. Sul: RS 5% · PR 5% · SC 4%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1.099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10,5%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C2F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434C2F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14%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5. Minas Gerais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819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7,8%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C2F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434C2F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11%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Total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8.016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2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121412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76,7%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4C2F"/>
                        </a:buClr>
                        <a:buSzPts val="1300"/>
                        <a:buFont typeface="Funnel Display"/>
                        <a:buNone/>
                      </a:pPr>
                      <a:r>
                        <a:rPr lang="en-US" sz="1300" u="none" cap="none" strike="noStrike">
                          <a:solidFill>
                            <a:srgbClr val="434C2F"/>
                          </a:solidFill>
                          <a:latin typeface="Funnel Display"/>
                          <a:ea typeface="Funnel Display"/>
                          <a:cs typeface="Funnel Display"/>
                          <a:sym typeface="Funnel Display"/>
                        </a:rPr>
                        <a:t>100%</a:t>
                      </a:r>
                      <a:endParaRPr sz="1300" u="none" cap="none" strike="noStrike">
                        <a:latin typeface="Funnel Display"/>
                        <a:ea typeface="Funnel Display"/>
                        <a:cs typeface="Funnel Display"/>
                        <a:sym typeface="Funnel Display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BE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6"/>
                    </a:solidFill>
                  </a:tcPr>
                </a:tc>
              </a:tr>
            </a:tbl>
          </a:graphicData>
        </a:graphic>
      </p:graphicFrame>
      <p:cxnSp>
        <p:nvCxnSpPr>
          <p:cNvPr id="114" name="Google Shape;114;p6"/>
          <p:cNvCxnSpPr/>
          <p:nvPr/>
        </p:nvCxnSpPr>
        <p:spPr>
          <a:xfrm>
            <a:off x="7145738" y="2426066"/>
            <a:ext cx="4233425" cy="0"/>
          </a:xfrm>
          <a:prstGeom prst="straightConnector1">
            <a:avLst/>
          </a:prstGeom>
          <a:noFill/>
          <a:ln cap="flat" cmpd="sng" w="9525">
            <a:solidFill>
              <a:srgbClr val="1214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7145738" y="2582227"/>
            <a:ext cx="4360428" cy="743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São Paulo · 55%.</a:t>
            </a: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O estado concentra 64% do público do top 5 e se divide em duas campanhas que não competem entre si.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145738" y="3452608"/>
            <a:ext cx="4360428" cy="743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· 20%.</a:t>
            </a: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Única praça acima do seu volume, pela unidade e pelo histórico: CPA de R$ 168,50 na Imersão Cirurgia (GO), contra R$ 210,51 da conta.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145738" y="4322986"/>
            <a:ext cx="4360428" cy="504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 e MG · 25%.</a:t>
            </a: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Seguem o volume, com realocação entre conjuntos após as primeiras semanas.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12774" y="6238298"/>
            <a:ext cx="31760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Segmentação por localidade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153157" y="6238298"/>
            <a:ext cx="2260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812774" y="812775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INTERCURSOS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26" name="Google Shape;126;p7"/>
          <p:cNvSpPr txBox="1"/>
          <p:nvPr>
            <p:ph type="title"/>
          </p:nvPr>
        </p:nvSpPr>
        <p:spPr>
          <a:xfrm>
            <a:off x="812774" y="1920531"/>
            <a:ext cx="9810682" cy="2051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5600"/>
              <a:buFont typeface="Funnel Display"/>
              <a:buNone/>
            </a:pPr>
            <a:r>
              <a:rPr b="0" i="0" lang="en-US" sz="5600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Estratégia de Públicos. </a:t>
            </a:r>
            <a:r>
              <a:rPr b="0" i="0" lang="en-US" sz="5600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Veterinário formado como base.</a:t>
            </a:r>
            <a:endParaRPr sz="5600"/>
          </a:p>
        </p:txBody>
      </p:sp>
      <p:sp>
        <p:nvSpPr>
          <p:cNvPr id="127" name="Google Shape;127;p7"/>
          <p:cNvSpPr/>
          <p:nvPr/>
        </p:nvSpPr>
        <p:spPr>
          <a:xfrm>
            <a:off x="812774" y="4200928"/>
            <a:ext cx="7194537" cy="60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Por que cursos de nicho não se segmentam por interesse no Meta, e como a especialidade chega ao público certo.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812774" y="5675747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F2F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812774" y="5831911"/>
            <a:ext cx="155885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OUTUBRO 2026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496458" y="5831911"/>
            <a:ext cx="18827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GROWTH HUB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812774" y="812775"/>
            <a:ext cx="10883381" cy="238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04 · POR QUE NÃO SEGMENTAR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37" name="Google Shape;137;p8"/>
          <p:cNvSpPr txBox="1"/>
          <p:nvPr>
            <p:ph type="title"/>
          </p:nvPr>
        </p:nvSpPr>
        <p:spPr>
          <a:xfrm>
            <a:off x="812774" y="1228942"/>
            <a:ext cx="9810682" cy="862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3300"/>
              <a:buFont typeface="Funnel Display"/>
              <a:buNone/>
            </a:pPr>
            <a:r>
              <a:rPr b="0" i="0" lang="en-US" sz="3300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Cursos de nicho não existem no Meta. </a:t>
            </a:r>
            <a:r>
              <a:rPr b="0" i="0" lang="en-US" sz="3300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Segmentar por curso não se sustenta.</a:t>
            </a:r>
            <a:endParaRPr sz="3300"/>
          </a:p>
        </p:txBody>
      </p:sp>
      <p:cxnSp>
        <p:nvCxnSpPr>
          <p:cNvPr id="138" name="Google Shape;138;p8"/>
          <p:cNvCxnSpPr/>
          <p:nvPr/>
        </p:nvCxnSpPr>
        <p:spPr>
          <a:xfrm>
            <a:off x="812774" y="2272596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1214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8"/>
          <p:cNvSpPr/>
          <p:nvPr/>
        </p:nvSpPr>
        <p:spPr>
          <a:xfrm>
            <a:off x="812774" y="2479514"/>
            <a:ext cx="336620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 PROBLEMA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12774" y="2794276"/>
            <a:ext cx="3366205" cy="1461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Nenhum curso tier 1 existe como interesse veterinário no Meta: Cardiorrespiratório, Gastroenterologia, Nefrologia, Hematologia, Diagnóstico por imagem, Endoscopia e Cirurgia.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4338007" y="2276376"/>
            <a:ext cx="0" cy="2190729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8"/>
          <p:cNvSpPr/>
          <p:nvPr/>
        </p:nvSpPr>
        <p:spPr>
          <a:xfrm>
            <a:off x="4595684" y="2479514"/>
            <a:ext cx="3097639" cy="238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 QUE OS TESTES MOSTRARAM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95684" y="2794059"/>
            <a:ext cx="3097639" cy="169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4984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296"/>
              <a:buFont typeface="Funnel Display"/>
              <a:buNone/>
            </a:pPr>
            <a:r>
              <a:rPr b="0" i="0" lang="en-US" sz="1296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As especialidades só aparecem como campo de estudo ou cargo, de medicina humana, e pouquíssimos veterinários as declaram. Qualquer forma de incluir a especialidade no público quebra o tamanho ou a qualidade.</a:t>
            </a:r>
            <a:endParaRPr b="0" i="0" sz="1296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7860172" y="2276376"/>
            <a:ext cx="0" cy="2190729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8"/>
          <p:cNvSpPr/>
          <p:nvPr/>
        </p:nvSpPr>
        <p:spPr>
          <a:xfrm>
            <a:off x="8117850" y="2479514"/>
            <a:ext cx="33590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SOLUÇÃO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8117850" y="2794276"/>
            <a:ext cx="3359041" cy="1222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Um público base de veterinários formados para todos os cursos. A especialidade entra pelo criativo, pela estrutura das campanhas e por públicos próprios.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12774" y="4670245"/>
            <a:ext cx="5232383" cy="1171773"/>
          </a:xfrm>
          <a:prstGeom prst="roundRect">
            <a:avLst>
              <a:gd fmla="val 8671" name="adj"/>
            </a:avLst>
          </a:prstGeom>
          <a:solidFill>
            <a:srgbClr val="F2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15913" y="4809908"/>
            <a:ext cx="4970887" cy="238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ESPECIALIDADE OBRIGATÓRIA (E)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015913" y="5060869"/>
            <a:ext cx="4970887" cy="415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2193"/>
              <a:buFont typeface="Funnel Display"/>
              <a:buNone/>
            </a:pPr>
            <a:r>
              <a:rPr b="0" i="0" lang="en-US" sz="2193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Menos de 1.000 pessoas</a:t>
            </a:r>
            <a:endParaRPr b="0" i="0" sz="2193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015913" y="5489432"/>
            <a:ext cx="4970887" cy="238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pequeno demais para o algoritmo entregar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146672" y="4670245"/>
            <a:ext cx="5232491" cy="1171773"/>
          </a:xfrm>
          <a:prstGeom prst="roundRect">
            <a:avLst>
              <a:gd fmla="val 8671" name="adj"/>
            </a:avLst>
          </a:prstGeom>
          <a:solidFill>
            <a:srgbClr val="F2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349811" y="4809908"/>
            <a:ext cx="4971000" cy="238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ESPECIALIDADE OPCIONAL (OU)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349811" y="5060869"/>
            <a:ext cx="4971000" cy="415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2193"/>
              <a:buFont typeface="Funnel Display"/>
              <a:buNone/>
            </a:pPr>
            <a:r>
              <a:rPr b="0" i="0" lang="en-US" sz="2193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Milhões de pessoas</a:t>
            </a:r>
            <a:endParaRPr b="0" i="0" sz="2193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349811" y="5489432"/>
            <a:ext cx="4971000" cy="238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 ganho vem de médicos de humanos, fora do 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12774" y="6238298"/>
            <a:ext cx="2619093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Estratégia de Públicos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1153157" y="6238298"/>
            <a:ext cx="2260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812774" y="812775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05 · PÚBLICO BASE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63" name="Google Shape;163;p9"/>
          <p:cNvSpPr txBox="1"/>
          <p:nvPr>
            <p:ph type="title"/>
          </p:nvPr>
        </p:nvSpPr>
        <p:spPr>
          <a:xfrm>
            <a:off x="812774" y="1279916"/>
            <a:ext cx="9810682" cy="86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3300"/>
              <a:buFont typeface="Funnel Display"/>
              <a:buNone/>
            </a:pPr>
            <a:r>
              <a:rPr b="0" i="0" lang="en-US" sz="3300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Um público para todos os cursos. </a:t>
            </a:r>
            <a:r>
              <a:rPr b="0" i="0" lang="en-US" sz="3300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Só veterinário formado.</a:t>
            </a:r>
            <a:endParaRPr sz="3300"/>
          </a:p>
        </p:txBody>
      </p:sp>
      <p:cxnSp>
        <p:nvCxnSpPr>
          <p:cNvPr id="164" name="Google Shape;164;p9"/>
          <p:cNvCxnSpPr/>
          <p:nvPr/>
        </p:nvCxnSpPr>
        <p:spPr>
          <a:xfrm>
            <a:off x="812774" y="2375198"/>
            <a:ext cx="5956249" cy="0"/>
          </a:xfrm>
          <a:prstGeom prst="straightConnector1">
            <a:avLst/>
          </a:prstGeom>
          <a:noFill/>
          <a:ln cap="flat" cmpd="sng" w="9525">
            <a:solidFill>
              <a:srgbClr val="1214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9"/>
          <p:cNvSpPr/>
          <p:nvPr/>
        </p:nvSpPr>
        <p:spPr>
          <a:xfrm>
            <a:off x="812774" y="2531356"/>
            <a:ext cx="613493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GRUPO 1 · É VETERINÁRIO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12774" y="2833402"/>
            <a:ext cx="6134937" cy="5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Campo de estudo: Medicina veterinária OU Cargo: Médico Veterinário OU Veterinarian (VET)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812774" y="3401653"/>
            <a:ext cx="5956249" cy="0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812774" y="3481634"/>
            <a:ext cx="6134937" cy="238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12774" y="3783670"/>
            <a:ext cx="613493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GRUPO 2 · É FORMADO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12774" y="4085717"/>
            <a:ext cx="6134937" cy="2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Nível educacional: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812774" y="4415823"/>
            <a:ext cx="5956249" cy="0"/>
          </a:xfrm>
          <a:prstGeom prst="straightConnector1">
            <a:avLst/>
          </a:prstGeom>
          <a:noFill/>
          <a:ln cap="flat" cmpd="sng" w="9525">
            <a:solidFill>
              <a:srgbClr val="D9DB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9"/>
          <p:cNvSpPr/>
          <p:nvPr/>
        </p:nvSpPr>
        <p:spPr>
          <a:xfrm>
            <a:off x="812774" y="4495805"/>
            <a:ext cx="6134937" cy="45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Em cada praça: localização e exclusões geográficas · idade mínima · exclusão de alunos do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124544" y="2372023"/>
            <a:ext cx="4254619" cy="2650591"/>
          </a:xfrm>
          <a:prstGeom prst="roundRect">
            <a:avLst>
              <a:gd fmla="val 4791" name="adj"/>
            </a:avLst>
          </a:prstGeom>
          <a:solidFill>
            <a:srgbClr val="F2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378441" y="2600592"/>
            <a:ext cx="385923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C2F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434C2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EXEMPLO REAL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378441" y="2928069"/>
            <a:ext cx="3859230" cy="253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Otimizado · Estado de SP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378441" y="3270876"/>
            <a:ext cx="385923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Localização:</a:t>
            </a:r>
            <a:r>
              <a:rPr b="0" i="0" lang="en-US" sz="12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estado de São Paulo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378441" y="3598354"/>
            <a:ext cx="385923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Exclusão:</a:t>
            </a:r>
            <a:r>
              <a:rPr b="0" i="0" lang="en-US" sz="12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cidade de São Paulo + 40 km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378441" y="3925832"/>
            <a:ext cx="385923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Idade:</a:t>
            </a:r>
            <a:r>
              <a:rPr b="0" i="0" lang="en-US" sz="12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mínima 20 · sugestão de 22 a 35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378441" y="4253316"/>
            <a:ext cx="385923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Direcionamento:</a:t>
            </a:r>
            <a:r>
              <a:rPr b="0" i="0" lang="en-US" sz="12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veterinário E formado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378441" y="4580793"/>
            <a:ext cx="3859230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Tamanho estimado:</a:t>
            </a:r>
            <a:r>
              <a:rPr b="0" i="0" lang="en-US" sz="12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4,7 a 5,5 milhões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12774" y="6238298"/>
            <a:ext cx="2619093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Estratégia de Públicos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153157" y="6238298"/>
            <a:ext cx="2260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812774" y="812769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INTERCURSOS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89" name="Google Shape;189;p10"/>
          <p:cNvSpPr txBox="1"/>
          <p:nvPr>
            <p:ph type="title"/>
          </p:nvPr>
        </p:nvSpPr>
        <p:spPr>
          <a:xfrm>
            <a:off x="812774" y="2596028"/>
            <a:ext cx="9810682" cy="7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5600"/>
              <a:buFont typeface="Funnel Display"/>
              <a:buNone/>
            </a:pPr>
            <a:r>
              <a:rPr b="0" i="0" lang="en-US" sz="5600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Plano por curso. </a:t>
            </a:r>
            <a:r>
              <a:rPr b="0" i="0" lang="en-US" sz="5600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Tier 1.</a:t>
            </a:r>
            <a:endParaRPr sz="5600"/>
          </a:p>
        </p:txBody>
      </p:sp>
      <p:sp>
        <p:nvSpPr>
          <p:cNvPr id="190" name="Google Shape;190;p10"/>
          <p:cNvSpPr/>
          <p:nvPr/>
        </p:nvSpPr>
        <p:spPr>
          <a:xfrm>
            <a:off x="812774" y="3525422"/>
            <a:ext cx="7194537" cy="60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Como a segmentação por localidade e o público base de veterinários formados se aplicam a cada curso prioritário.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>
            <a:off x="812774" y="5675747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F2F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0"/>
          <p:cNvSpPr/>
          <p:nvPr/>
        </p:nvSpPr>
        <p:spPr>
          <a:xfrm>
            <a:off x="812774" y="5831904"/>
            <a:ext cx="155885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OUTUBRO 2026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9496458" y="5831904"/>
            <a:ext cx="18827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GROWTH HUB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0" name="Google Shape;200;p11"/>
          <p:cNvSpPr txBox="1"/>
          <p:nvPr>
            <p:ph type="title"/>
          </p:nvPr>
        </p:nvSpPr>
        <p:spPr>
          <a:xfrm>
            <a:off x="812774" y="1025916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Nefrologia e Urologia Veterinária</a:t>
            </a:r>
            <a:endParaRPr sz="4800"/>
          </a:p>
        </p:txBody>
      </p:sp>
      <p:sp>
        <p:nvSpPr>
          <p:cNvPr id="201" name="Google Shape;201;p11"/>
          <p:cNvSpPr/>
          <p:nvPr/>
        </p:nvSpPr>
        <p:spPr>
          <a:xfrm>
            <a:off x="812774" y="1767501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02" name="Google Shape;202;p11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1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12774" y="2863732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 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095914" y="2863732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737485" y="2863732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12774" y="3724653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12774" y="4052137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095914" y="3724653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095914" y="4052137"/>
            <a:ext cx="5441746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Nefrologia e Urologia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>
            <a:off x="825474" y="4940988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1"/>
          <p:cNvSpPr/>
          <p:nvPr/>
        </p:nvSpPr>
        <p:spPr>
          <a:xfrm>
            <a:off x="947942" y="4953688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12774" y="6238298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0547694" y="6238298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1/7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812774" y="457144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24" name="Google Shape;224;p12"/>
          <p:cNvSpPr txBox="1"/>
          <p:nvPr>
            <p:ph type="title"/>
          </p:nvPr>
        </p:nvSpPr>
        <p:spPr>
          <a:xfrm>
            <a:off x="812774" y="759191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Nefrologia e Urologia Veterinária</a:t>
            </a:r>
            <a:endParaRPr sz="4800"/>
          </a:p>
        </p:txBody>
      </p:sp>
      <p:sp>
        <p:nvSpPr>
          <p:cNvPr id="225" name="Google Shape;225;p12"/>
          <p:cNvSpPr/>
          <p:nvPr/>
        </p:nvSpPr>
        <p:spPr>
          <a:xfrm>
            <a:off x="812774" y="148805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26" name="Google Shape;226;p12"/>
          <p:cNvCxnSpPr/>
          <p:nvPr/>
        </p:nvCxnSpPr>
        <p:spPr>
          <a:xfrm>
            <a:off x="812774" y="184675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2"/>
          <p:cNvSpPr/>
          <p:nvPr/>
        </p:nvSpPr>
        <p:spPr>
          <a:xfrm>
            <a:off x="812774" y="1939434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812774" y="2253990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3975072" y="2253990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616750" y="2253990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737593" y="2253990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0233585" y="2253990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>
            <a:off x="812774" y="3026283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2"/>
          <p:cNvSpPr/>
          <p:nvPr/>
        </p:nvSpPr>
        <p:spPr>
          <a:xfrm>
            <a:off x="1193619" y="2774392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695853" y="2774392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5946974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7774248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9601522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39" name="Google Shape;239;p12"/>
          <p:cNvCxnSpPr/>
          <p:nvPr/>
        </p:nvCxnSpPr>
        <p:spPr>
          <a:xfrm>
            <a:off x="812774" y="33055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2"/>
          <p:cNvSpPr/>
          <p:nvPr/>
        </p:nvSpPr>
        <p:spPr>
          <a:xfrm>
            <a:off x="812774" y="307828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193619" y="305165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695853" y="305165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946974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774248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601522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46" name="Google Shape;246;p12"/>
          <p:cNvCxnSpPr/>
          <p:nvPr/>
        </p:nvCxnSpPr>
        <p:spPr>
          <a:xfrm>
            <a:off x="812774" y="358159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2"/>
          <p:cNvSpPr/>
          <p:nvPr/>
        </p:nvSpPr>
        <p:spPr>
          <a:xfrm>
            <a:off x="812774" y="335435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193619" y="332772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695853" y="332772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946974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7774248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9601522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53" name="Google Shape;253;p12"/>
          <p:cNvCxnSpPr/>
          <p:nvPr/>
        </p:nvCxnSpPr>
        <p:spPr>
          <a:xfrm>
            <a:off x="812774" y="38576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2"/>
          <p:cNvSpPr/>
          <p:nvPr/>
        </p:nvSpPr>
        <p:spPr>
          <a:xfrm>
            <a:off x="812774" y="363042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1193619" y="360379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695853" y="360379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946974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774248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9601522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60" name="Google Shape;260;p12"/>
          <p:cNvCxnSpPr/>
          <p:nvPr/>
        </p:nvCxnSpPr>
        <p:spPr>
          <a:xfrm>
            <a:off x="812774" y="413373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2"/>
          <p:cNvSpPr/>
          <p:nvPr/>
        </p:nvSpPr>
        <p:spPr>
          <a:xfrm>
            <a:off x="812774" y="390649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1193619" y="387986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695853" y="387986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946974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774248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9601522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67" name="Google Shape;267;p12"/>
          <p:cNvCxnSpPr/>
          <p:nvPr/>
        </p:nvCxnSpPr>
        <p:spPr>
          <a:xfrm>
            <a:off x="812774" y="44098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2"/>
          <p:cNvSpPr/>
          <p:nvPr/>
        </p:nvSpPr>
        <p:spPr>
          <a:xfrm>
            <a:off x="815949" y="4185735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193619" y="415593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4695853" y="415593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946974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774248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9601522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819124" y="4508128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022869" y="4610249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022869" y="4861539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12774" y="6339923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290906" y="6339923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1/7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85" name="Google Shape;285;p13"/>
          <p:cNvSpPr txBox="1"/>
          <p:nvPr>
            <p:ph type="title"/>
          </p:nvPr>
        </p:nvSpPr>
        <p:spPr>
          <a:xfrm>
            <a:off x="812774" y="1025916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Cardiorrespiratório Veterinário</a:t>
            </a:r>
            <a:endParaRPr sz="4800"/>
          </a:p>
        </p:txBody>
      </p:sp>
      <p:sp>
        <p:nvSpPr>
          <p:cNvPr id="286" name="Google Shape;286;p13"/>
          <p:cNvSpPr/>
          <p:nvPr/>
        </p:nvSpPr>
        <p:spPr>
          <a:xfrm>
            <a:off x="812774" y="1767495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87" name="Google Shape;287;p13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3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812774" y="2863732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 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6095914" y="2863732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8737485" y="2863732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2774" y="3724653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12774" y="4052131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095914" y="3724653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095914" y="4052131"/>
            <a:ext cx="5441746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Cardiorrespiratório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299" name="Google Shape;299;p13"/>
          <p:cNvCxnSpPr/>
          <p:nvPr/>
        </p:nvCxnSpPr>
        <p:spPr>
          <a:xfrm>
            <a:off x="825474" y="4940988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3"/>
          <p:cNvSpPr/>
          <p:nvPr/>
        </p:nvSpPr>
        <p:spPr>
          <a:xfrm>
            <a:off x="947942" y="4953688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812774" y="6238298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0547694" y="6238298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2/7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"/>
          <p:cNvSpPr/>
          <p:nvPr/>
        </p:nvSpPr>
        <p:spPr>
          <a:xfrm>
            <a:off x="812774" y="457144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812774" y="759191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Cardiorrespiratório Veterinário</a:t>
            </a:r>
            <a:endParaRPr sz="4800"/>
          </a:p>
        </p:txBody>
      </p:sp>
      <p:sp>
        <p:nvSpPr>
          <p:cNvPr id="310" name="Google Shape;310;p14"/>
          <p:cNvSpPr/>
          <p:nvPr/>
        </p:nvSpPr>
        <p:spPr>
          <a:xfrm>
            <a:off x="812774" y="148805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11" name="Google Shape;311;p14"/>
          <p:cNvCxnSpPr/>
          <p:nvPr/>
        </p:nvCxnSpPr>
        <p:spPr>
          <a:xfrm>
            <a:off x="812774" y="184675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4"/>
          <p:cNvSpPr/>
          <p:nvPr/>
        </p:nvSpPr>
        <p:spPr>
          <a:xfrm>
            <a:off x="812774" y="1939434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812774" y="2253983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3975072" y="2253983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616750" y="2253983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8737593" y="2253983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233585" y="2253983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18" name="Google Shape;318;p14"/>
          <p:cNvCxnSpPr/>
          <p:nvPr/>
        </p:nvCxnSpPr>
        <p:spPr>
          <a:xfrm>
            <a:off x="812774" y="3026283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4"/>
          <p:cNvSpPr/>
          <p:nvPr/>
        </p:nvSpPr>
        <p:spPr>
          <a:xfrm>
            <a:off x="1193619" y="2774386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695853" y="2774386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5946974" y="2774386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7774248" y="2774386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9601522" y="2774386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24" name="Google Shape;324;p14"/>
          <p:cNvCxnSpPr/>
          <p:nvPr/>
        </p:nvCxnSpPr>
        <p:spPr>
          <a:xfrm>
            <a:off x="812774" y="33055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4"/>
          <p:cNvSpPr/>
          <p:nvPr/>
        </p:nvSpPr>
        <p:spPr>
          <a:xfrm>
            <a:off x="812774" y="307828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1193619" y="305165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695853" y="305165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946974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774248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9601522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31" name="Google Shape;331;p14"/>
          <p:cNvCxnSpPr/>
          <p:nvPr/>
        </p:nvCxnSpPr>
        <p:spPr>
          <a:xfrm>
            <a:off x="812774" y="358159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4"/>
          <p:cNvSpPr/>
          <p:nvPr/>
        </p:nvSpPr>
        <p:spPr>
          <a:xfrm>
            <a:off x="812774" y="335435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1193619" y="332772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695853" y="332772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946974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774248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9601522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38" name="Google Shape;338;p14"/>
          <p:cNvCxnSpPr/>
          <p:nvPr/>
        </p:nvCxnSpPr>
        <p:spPr>
          <a:xfrm>
            <a:off x="812774" y="38576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4"/>
          <p:cNvSpPr/>
          <p:nvPr/>
        </p:nvSpPr>
        <p:spPr>
          <a:xfrm>
            <a:off x="812774" y="363042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1193619" y="360379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695853" y="360379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946974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7774248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9601522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45" name="Google Shape;345;p14"/>
          <p:cNvCxnSpPr/>
          <p:nvPr/>
        </p:nvCxnSpPr>
        <p:spPr>
          <a:xfrm>
            <a:off x="812774" y="413373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4"/>
          <p:cNvSpPr/>
          <p:nvPr/>
        </p:nvSpPr>
        <p:spPr>
          <a:xfrm>
            <a:off x="812774" y="390649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193619" y="387986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695853" y="387986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946974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7774248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9601522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52" name="Google Shape;352;p14"/>
          <p:cNvCxnSpPr/>
          <p:nvPr/>
        </p:nvCxnSpPr>
        <p:spPr>
          <a:xfrm>
            <a:off x="812774" y="440980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4"/>
          <p:cNvSpPr/>
          <p:nvPr/>
        </p:nvSpPr>
        <p:spPr>
          <a:xfrm>
            <a:off x="815949" y="4185735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193619" y="415593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4695853" y="415593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946974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7774248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9601522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19124" y="4508128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022869" y="4610249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22869" y="4861539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12774" y="6339923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9290906" y="6339923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2/7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0" name="Google Shape;370;p15"/>
          <p:cNvSpPr txBox="1"/>
          <p:nvPr>
            <p:ph type="title"/>
          </p:nvPr>
        </p:nvSpPr>
        <p:spPr>
          <a:xfrm>
            <a:off x="812774" y="1025909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Cirurgia de Pequenos Animais</a:t>
            </a:r>
            <a:endParaRPr sz="4800"/>
          </a:p>
        </p:txBody>
      </p:sp>
      <p:sp>
        <p:nvSpPr>
          <p:cNvPr id="371" name="Google Shape;371;p15"/>
          <p:cNvSpPr/>
          <p:nvPr/>
        </p:nvSpPr>
        <p:spPr>
          <a:xfrm>
            <a:off x="812774" y="1767495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72" name="Google Shape;372;p15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5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812774" y="2863726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 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095914" y="2863726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737485" y="2863726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12774" y="3724653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812774" y="4052131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6095914" y="3724653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095914" y="4052131"/>
            <a:ext cx="5441746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Cirurgia de Pequenos Animais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84" name="Google Shape;384;p15"/>
          <p:cNvCxnSpPr/>
          <p:nvPr/>
        </p:nvCxnSpPr>
        <p:spPr>
          <a:xfrm>
            <a:off x="825474" y="4940988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5"/>
          <p:cNvSpPr/>
          <p:nvPr/>
        </p:nvSpPr>
        <p:spPr>
          <a:xfrm>
            <a:off x="947942" y="4953688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812774" y="6238298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10547694" y="6238298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3/7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/>
          <p:nvPr/>
        </p:nvSpPr>
        <p:spPr>
          <a:xfrm>
            <a:off x="812774" y="457144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94" name="Google Shape;394;p16"/>
          <p:cNvSpPr txBox="1"/>
          <p:nvPr>
            <p:ph type="title"/>
          </p:nvPr>
        </p:nvSpPr>
        <p:spPr>
          <a:xfrm>
            <a:off x="812774" y="759191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Cirurgia de Pequenos Animais</a:t>
            </a:r>
            <a:endParaRPr sz="4800"/>
          </a:p>
        </p:txBody>
      </p:sp>
      <p:sp>
        <p:nvSpPr>
          <p:cNvPr id="395" name="Google Shape;395;p16"/>
          <p:cNvSpPr/>
          <p:nvPr/>
        </p:nvSpPr>
        <p:spPr>
          <a:xfrm>
            <a:off x="812774" y="1488052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396" name="Google Shape;396;p16"/>
          <p:cNvCxnSpPr/>
          <p:nvPr/>
        </p:nvCxnSpPr>
        <p:spPr>
          <a:xfrm>
            <a:off x="812774" y="184675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6"/>
          <p:cNvSpPr/>
          <p:nvPr/>
        </p:nvSpPr>
        <p:spPr>
          <a:xfrm>
            <a:off x="812774" y="1939434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812774" y="2253983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3975072" y="2253983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616750" y="2253983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8737593" y="2253983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10233585" y="2253983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03" name="Google Shape;403;p16"/>
          <p:cNvCxnSpPr/>
          <p:nvPr/>
        </p:nvCxnSpPr>
        <p:spPr>
          <a:xfrm>
            <a:off x="812774" y="3026283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6"/>
          <p:cNvSpPr/>
          <p:nvPr/>
        </p:nvSpPr>
        <p:spPr>
          <a:xfrm>
            <a:off x="1193619" y="2774386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695853" y="2774386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946974" y="2774386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7774248" y="2774386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9601522" y="2774386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>
            <a:off x="812774" y="330552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6"/>
          <p:cNvSpPr/>
          <p:nvPr/>
        </p:nvSpPr>
        <p:spPr>
          <a:xfrm>
            <a:off x="812774" y="307828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1193619" y="305165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4695853" y="305165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5946974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7774248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9601522" y="305165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16" name="Google Shape;416;p16"/>
          <p:cNvCxnSpPr/>
          <p:nvPr/>
        </p:nvCxnSpPr>
        <p:spPr>
          <a:xfrm>
            <a:off x="812774" y="358159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16"/>
          <p:cNvSpPr/>
          <p:nvPr/>
        </p:nvSpPr>
        <p:spPr>
          <a:xfrm>
            <a:off x="812774" y="3354344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1193619" y="332771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4695853" y="332771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5946974" y="332771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7774248" y="332771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9601522" y="332771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23" name="Google Shape;423;p16"/>
          <p:cNvCxnSpPr/>
          <p:nvPr/>
        </p:nvCxnSpPr>
        <p:spPr>
          <a:xfrm>
            <a:off x="812774" y="385766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16"/>
          <p:cNvSpPr/>
          <p:nvPr/>
        </p:nvSpPr>
        <p:spPr>
          <a:xfrm>
            <a:off x="812774" y="363042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1193619" y="360379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695853" y="360379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5946974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7774248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9601522" y="360379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30" name="Google Shape;430;p16"/>
          <p:cNvCxnSpPr/>
          <p:nvPr/>
        </p:nvCxnSpPr>
        <p:spPr>
          <a:xfrm>
            <a:off x="812774" y="413373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6"/>
          <p:cNvSpPr/>
          <p:nvPr/>
        </p:nvSpPr>
        <p:spPr>
          <a:xfrm>
            <a:off x="812774" y="3906484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193619" y="387985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4695853" y="387985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946974" y="387985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7774248" y="387985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9601522" y="387985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37" name="Google Shape;437;p16"/>
          <p:cNvCxnSpPr/>
          <p:nvPr/>
        </p:nvCxnSpPr>
        <p:spPr>
          <a:xfrm>
            <a:off x="812774" y="440980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6"/>
          <p:cNvSpPr/>
          <p:nvPr/>
        </p:nvSpPr>
        <p:spPr>
          <a:xfrm>
            <a:off x="815949" y="4185735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1193619" y="415593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4695853" y="415593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946974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7774248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9601522" y="415593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819124" y="4508122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1022869" y="4610243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022869" y="4861539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812774" y="6339923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9290906" y="6339923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3/7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55" name="Google Shape;455;p17"/>
          <p:cNvSpPr txBox="1"/>
          <p:nvPr>
            <p:ph type="title"/>
          </p:nvPr>
        </p:nvSpPr>
        <p:spPr>
          <a:xfrm>
            <a:off x="812774" y="1025909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Diagnóstico por Imagem</a:t>
            </a:r>
            <a:endParaRPr sz="4800"/>
          </a:p>
        </p:txBody>
      </p:sp>
      <p:sp>
        <p:nvSpPr>
          <p:cNvPr id="456" name="Google Shape;456;p17"/>
          <p:cNvSpPr/>
          <p:nvPr/>
        </p:nvSpPr>
        <p:spPr>
          <a:xfrm>
            <a:off x="812774" y="1767495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57" name="Google Shape;457;p17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17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12774" y="2863726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 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6095914" y="2863726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8737485" y="2863726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812774" y="3724647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812774" y="4052131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6095914" y="3724647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6095914" y="4052131"/>
            <a:ext cx="5441746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Diagnóstico por Imagem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69" name="Google Shape;469;p17"/>
          <p:cNvCxnSpPr/>
          <p:nvPr/>
        </p:nvCxnSpPr>
        <p:spPr>
          <a:xfrm>
            <a:off x="825474" y="4940982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17"/>
          <p:cNvSpPr/>
          <p:nvPr/>
        </p:nvSpPr>
        <p:spPr>
          <a:xfrm>
            <a:off x="947942" y="4953682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812774" y="6238292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10547694" y="6238292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4/7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"/>
          <p:cNvSpPr/>
          <p:nvPr/>
        </p:nvSpPr>
        <p:spPr>
          <a:xfrm>
            <a:off x="812774" y="457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79" name="Google Shape;479;p18"/>
          <p:cNvSpPr txBox="1"/>
          <p:nvPr>
            <p:ph type="title"/>
          </p:nvPr>
        </p:nvSpPr>
        <p:spPr>
          <a:xfrm>
            <a:off x="812774" y="759197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Diagnóstico por Imagem</a:t>
            </a:r>
            <a:endParaRPr sz="4800"/>
          </a:p>
        </p:txBody>
      </p:sp>
      <p:sp>
        <p:nvSpPr>
          <p:cNvPr id="480" name="Google Shape;480;p18"/>
          <p:cNvSpPr/>
          <p:nvPr/>
        </p:nvSpPr>
        <p:spPr>
          <a:xfrm>
            <a:off x="812774" y="148805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81" name="Google Shape;481;p18"/>
          <p:cNvCxnSpPr/>
          <p:nvPr/>
        </p:nvCxnSpPr>
        <p:spPr>
          <a:xfrm>
            <a:off x="812774" y="1846759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18"/>
          <p:cNvSpPr/>
          <p:nvPr/>
        </p:nvSpPr>
        <p:spPr>
          <a:xfrm>
            <a:off x="812774" y="1939440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812774" y="2253990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3975072" y="2253990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616750" y="2253990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8737593" y="2253990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10233585" y="2253990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88" name="Google Shape;488;p18"/>
          <p:cNvCxnSpPr/>
          <p:nvPr/>
        </p:nvCxnSpPr>
        <p:spPr>
          <a:xfrm>
            <a:off x="812774" y="3026289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18"/>
          <p:cNvSpPr/>
          <p:nvPr/>
        </p:nvSpPr>
        <p:spPr>
          <a:xfrm>
            <a:off x="1193619" y="2774392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4695853" y="2774392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5946974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7774248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9601522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494" name="Google Shape;494;p18"/>
          <p:cNvCxnSpPr/>
          <p:nvPr/>
        </p:nvCxnSpPr>
        <p:spPr>
          <a:xfrm>
            <a:off x="812774" y="33055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18"/>
          <p:cNvSpPr/>
          <p:nvPr/>
        </p:nvSpPr>
        <p:spPr>
          <a:xfrm>
            <a:off x="812774" y="3078287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1193619" y="3051659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4695853" y="3051659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946974" y="305165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7774248" y="305165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9601522" y="305165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01" name="Google Shape;501;p18"/>
          <p:cNvCxnSpPr/>
          <p:nvPr/>
        </p:nvCxnSpPr>
        <p:spPr>
          <a:xfrm>
            <a:off x="812774" y="3581604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18"/>
          <p:cNvSpPr/>
          <p:nvPr/>
        </p:nvSpPr>
        <p:spPr>
          <a:xfrm>
            <a:off x="812774" y="335435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1193619" y="332772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4695853" y="332772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5946974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7774248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9601522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08" name="Google Shape;508;p18"/>
          <p:cNvCxnSpPr/>
          <p:nvPr/>
        </p:nvCxnSpPr>
        <p:spPr>
          <a:xfrm>
            <a:off x="812774" y="38576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18"/>
          <p:cNvSpPr/>
          <p:nvPr/>
        </p:nvSpPr>
        <p:spPr>
          <a:xfrm>
            <a:off x="812774" y="3630426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1193619" y="3603799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4695853" y="3603799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5946974" y="360379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7774248" y="360379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9601522" y="360379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15" name="Google Shape;515;p18"/>
          <p:cNvCxnSpPr/>
          <p:nvPr/>
        </p:nvCxnSpPr>
        <p:spPr>
          <a:xfrm>
            <a:off x="812774" y="413373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8"/>
          <p:cNvSpPr/>
          <p:nvPr/>
        </p:nvSpPr>
        <p:spPr>
          <a:xfrm>
            <a:off x="812774" y="390649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1193619" y="387986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4695853" y="387986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5946974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7774248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9601522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22" name="Google Shape;522;p18"/>
          <p:cNvCxnSpPr/>
          <p:nvPr/>
        </p:nvCxnSpPr>
        <p:spPr>
          <a:xfrm>
            <a:off x="812774" y="44098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18"/>
          <p:cNvSpPr/>
          <p:nvPr/>
        </p:nvSpPr>
        <p:spPr>
          <a:xfrm>
            <a:off x="815949" y="4185741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1193619" y="4155939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695853" y="4155939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5946974" y="415593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7774248" y="415593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9601522" y="415593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819124" y="4508128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1022869" y="4610249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1022869" y="4861545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812774" y="6339929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9290906" y="6339929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4/7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0" name="Google Shape;540;p19"/>
          <p:cNvSpPr txBox="1"/>
          <p:nvPr>
            <p:ph type="title"/>
          </p:nvPr>
        </p:nvSpPr>
        <p:spPr>
          <a:xfrm>
            <a:off x="812774" y="1025909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Endoscopia Veterinária</a:t>
            </a:r>
            <a:endParaRPr sz="4800"/>
          </a:p>
        </p:txBody>
      </p:sp>
      <p:sp>
        <p:nvSpPr>
          <p:cNvPr id="541" name="Google Shape;541;p19"/>
          <p:cNvSpPr/>
          <p:nvPr/>
        </p:nvSpPr>
        <p:spPr>
          <a:xfrm>
            <a:off x="812774" y="1767495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42" name="Google Shape;542;p19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19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812774" y="2863726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 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095914" y="2863726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8737485" y="2863726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812774" y="3724647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812774" y="4052131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6095914" y="3724647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6095914" y="4052131"/>
            <a:ext cx="6096086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Endoscopia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54" name="Google Shape;554;p19"/>
          <p:cNvCxnSpPr/>
          <p:nvPr/>
        </p:nvCxnSpPr>
        <p:spPr>
          <a:xfrm>
            <a:off x="825474" y="4940982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19"/>
          <p:cNvSpPr/>
          <p:nvPr/>
        </p:nvSpPr>
        <p:spPr>
          <a:xfrm>
            <a:off x="947942" y="4953682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812774" y="6238292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10547694" y="6238292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5/7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0"/>
          <p:cNvSpPr/>
          <p:nvPr/>
        </p:nvSpPr>
        <p:spPr>
          <a:xfrm>
            <a:off x="812774" y="457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64" name="Google Shape;564;p20"/>
          <p:cNvSpPr txBox="1"/>
          <p:nvPr>
            <p:ph type="title"/>
          </p:nvPr>
        </p:nvSpPr>
        <p:spPr>
          <a:xfrm>
            <a:off x="812774" y="759197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Endoscopia Veterinária</a:t>
            </a:r>
            <a:endParaRPr sz="4800"/>
          </a:p>
        </p:txBody>
      </p:sp>
      <p:sp>
        <p:nvSpPr>
          <p:cNvPr id="565" name="Google Shape;565;p20"/>
          <p:cNvSpPr/>
          <p:nvPr/>
        </p:nvSpPr>
        <p:spPr>
          <a:xfrm>
            <a:off x="812774" y="148805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66" name="Google Shape;566;p20"/>
          <p:cNvCxnSpPr/>
          <p:nvPr/>
        </p:nvCxnSpPr>
        <p:spPr>
          <a:xfrm>
            <a:off x="812774" y="1846759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20"/>
          <p:cNvSpPr/>
          <p:nvPr/>
        </p:nvSpPr>
        <p:spPr>
          <a:xfrm>
            <a:off x="812774" y="1939440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812774" y="2253990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3975072" y="2253990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6616750" y="2253990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8737593" y="2253990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10233585" y="2253990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73" name="Google Shape;573;p20"/>
          <p:cNvCxnSpPr/>
          <p:nvPr/>
        </p:nvCxnSpPr>
        <p:spPr>
          <a:xfrm>
            <a:off x="812774" y="3026277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20"/>
          <p:cNvSpPr/>
          <p:nvPr/>
        </p:nvSpPr>
        <p:spPr>
          <a:xfrm>
            <a:off x="1193619" y="2774392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4695853" y="2774392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5946974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7774248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9601522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79" name="Google Shape;579;p20"/>
          <p:cNvCxnSpPr/>
          <p:nvPr/>
        </p:nvCxnSpPr>
        <p:spPr>
          <a:xfrm>
            <a:off x="812774" y="33055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0"/>
          <p:cNvSpPr/>
          <p:nvPr/>
        </p:nvSpPr>
        <p:spPr>
          <a:xfrm>
            <a:off x="812774" y="3078287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1193619" y="3051659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4695853" y="3051659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5946974" y="305165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7774248" y="305165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9601522" y="3051659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86" name="Google Shape;586;p20"/>
          <p:cNvCxnSpPr/>
          <p:nvPr/>
        </p:nvCxnSpPr>
        <p:spPr>
          <a:xfrm>
            <a:off x="812774" y="358159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20"/>
          <p:cNvSpPr/>
          <p:nvPr/>
        </p:nvSpPr>
        <p:spPr>
          <a:xfrm>
            <a:off x="812774" y="335435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1193619" y="332772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4695853" y="332772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5946974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7774248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9601522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593" name="Google Shape;593;p20"/>
          <p:cNvCxnSpPr/>
          <p:nvPr/>
        </p:nvCxnSpPr>
        <p:spPr>
          <a:xfrm>
            <a:off x="812774" y="38576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0"/>
          <p:cNvSpPr/>
          <p:nvPr/>
        </p:nvSpPr>
        <p:spPr>
          <a:xfrm>
            <a:off x="812774" y="3630426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1193619" y="360378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4695853" y="360378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5946974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7774248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9601522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00" name="Google Shape;600;p20"/>
          <p:cNvCxnSpPr/>
          <p:nvPr/>
        </p:nvCxnSpPr>
        <p:spPr>
          <a:xfrm>
            <a:off x="812774" y="413373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20"/>
          <p:cNvSpPr/>
          <p:nvPr/>
        </p:nvSpPr>
        <p:spPr>
          <a:xfrm>
            <a:off x="812774" y="390649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1193619" y="387986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4695853" y="387986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5946974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7774248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9601522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07" name="Google Shape;607;p20"/>
          <p:cNvCxnSpPr/>
          <p:nvPr/>
        </p:nvCxnSpPr>
        <p:spPr>
          <a:xfrm>
            <a:off x="812774" y="44098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20"/>
          <p:cNvSpPr/>
          <p:nvPr/>
        </p:nvSpPr>
        <p:spPr>
          <a:xfrm>
            <a:off x="815949" y="4185729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1193619" y="415592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4695853" y="415592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5946974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7774248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9601522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819124" y="4508128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1022869" y="4610249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1022869" y="4861533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812774" y="6339917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9290906" y="6339917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5/7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1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25" name="Google Shape;625;p21"/>
          <p:cNvSpPr txBox="1"/>
          <p:nvPr>
            <p:ph type="title"/>
          </p:nvPr>
        </p:nvSpPr>
        <p:spPr>
          <a:xfrm>
            <a:off x="812774" y="1025922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Gastroenterologia Veterinária</a:t>
            </a:r>
            <a:endParaRPr sz="4800"/>
          </a:p>
        </p:txBody>
      </p:sp>
      <p:sp>
        <p:nvSpPr>
          <p:cNvPr id="626" name="Google Shape;626;p21"/>
          <p:cNvSpPr/>
          <p:nvPr/>
        </p:nvSpPr>
        <p:spPr>
          <a:xfrm>
            <a:off x="812774" y="176750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27" name="Google Shape;627;p21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8" name="Google Shape;628;p21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812774" y="2863738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0" name="Google Shape;630;p21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 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1" name="Google Shape;631;p21"/>
          <p:cNvSpPr/>
          <p:nvPr/>
        </p:nvSpPr>
        <p:spPr>
          <a:xfrm>
            <a:off x="6095914" y="2863738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8737485" y="2863738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812774" y="3724659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812774" y="4052143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6095914" y="3724659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6095914" y="4052143"/>
            <a:ext cx="5441746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Gastroenterologia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39" name="Google Shape;639;p21"/>
          <p:cNvCxnSpPr/>
          <p:nvPr/>
        </p:nvCxnSpPr>
        <p:spPr>
          <a:xfrm>
            <a:off x="825474" y="4940995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21"/>
          <p:cNvSpPr/>
          <p:nvPr/>
        </p:nvSpPr>
        <p:spPr>
          <a:xfrm>
            <a:off x="947942" y="4953695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812774" y="6238304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10547694" y="6238304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6/7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2"/>
          <p:cNvSpPr/>
          <p:nvPr/>
        </p:nvSpPr>
        <p:spPr>
          <a:xfrm>
            <a:off x="812774" y="457138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49" name="Google Shape;649;p22"/>
          <p:cNvSpPr txBox="1"/>
          <p:nvPr>
            <p:ph type="title"/>
          </p:nvPr>
        </p:nvSpPr>
        <p:spPr>
          <a:xfrm>
            <a:off x="812774" y="759185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Gastroenterologia Veterinária</a:t>
            </a:r>
            <a:endParaRPr sz="4800"/>
          </a:p>
        </p:txBody>
      </p:sp>
      <p:sp>
        <p:nvSpPr>
          <p:cNvPr id="650" name="Google Shape;650;p22"/>
          <p:cNvSpPr/>
          <p:nvPr/>
        </p:nvSpPr>
        <p:spPr>
          <a:xfrm>
            <a:off x="812774" y="148805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51" name="Google Shape;651;p22"/>
          <p:cNvCxnSpPr/>
          <p:nvPr/>
        </p:nvCxnSpPr>
        <p:spPr>
          <a:xfrm>
            <a:off x="812774" y="1846746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22"/>
          <p:cNvSpPr/>
          <p:nvPr/>
        </p:nvSpPr>
        <p:spPr>
          <a:xfrm>
            <a:off x="812774" y="1939427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812774" y="2253990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3975072" y="2253990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6616750" y="2253990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8737593" y="2253990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10233585" y="2253990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58" name="Google Shape;658;p22"/>
          <p:cNvCxnSpPr/>
          <p:nvPr/>
        </p:nvCxnSpPr>
        <p:spPr>
          <a:xfrm>
            <a:off x="812774" y="3026277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22"/>
          <p:cNvSpPr/>
          <p:nvPr/>
        </p:nvSpPr>
        <p:spPr>
          <a:xfrm>
            <a:off x="1193619" y="2774392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4695853" y="2774392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5946974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7774248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9601522" y="2774392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64" name="Google Shape;664;p22"/>
          <p:cNvCxnSpPr/>
          <p:nvPr/>
        </p:nvCxnSpPr>
        <p:spPr>
          <a:xfrm>
            <a:off x="812774" y="33055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22"/>
          <p:cNvSpPr/>
          <p:nvPr/>
        </p:nvSpPr>
        <p:spPr>
          <a:xfrm>
            <a:off x="812774" y="3078274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193619" y="305164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4695853" y="305164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5946974" y="305164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7774248" y="305164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9601522" y="305164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71" name="Google Shape;671;p22"/>
          <p:cNvCxnSpPr/>
          <p:nvPr/>
        </p:nvCxnSpPr>
        <p:spPr>
          <a:xfrm>
            <a:off x="812774" y="358159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2" name="Google Shape;672;p22"/>
          <p:cNvSpPr/>
          <p:nvPr/>
        </p:nvSpPr>
        <p:spPr>
          <a:xfrm>
            <a:off x="812774" y="335435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1193619" y="332772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4695853" y="332772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5946974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7774248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9601522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78" name="Google Shape;678;p22"/>
          <p:cNvCxnSpPr/>
          <p:nvPr/>
        </p:nvCxnSpPr>
        <p:spPr>
          <a:xfrm>
            <a:off x="812774" y="38576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9" name="Google Shape;679;p22"/>
          <p:cNvSpPr/>
          <p:nvPr/>
        </p:nvSpPr>
        <p:spPr>
          <a:xfrm>
            <a:off x="812774" y="3630414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1193619" y="360378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4695853" y="360378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5946974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7774248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9601522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85" name="Google Shape;685;p22"/>
          <p:cNvCxnSpPr/>
          <p:nvPr/>
        </p:nvCxnSpPr>
        <p:spPr>
          <a:xfrm>
            <a:off x="812774" y="413373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6" name="Google Shape;686;p22"/>
          <p:cNvSpPr/>
          <p:nvPr/>
        </p:nvSpPr>
        <p:spPr>
          <a:xfrm>
            <a:off x="812774" y="390649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1193619" y="387986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4695853" y="387986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5946974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7774248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9601522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692" name="Google Shape;692;p22"/>
          <p:cNvCxnSpPr/>
          <p:nvPr/>
        </p:nvCxnSpPr>
        <p:spPr>
          <a:xfrm>
            <a:off x="812774" y="44098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3" name="Google Shape;693;p22"/>
          <p:cNvSpPr/>
          <p:nvPr/>
        </p:nvSpPr>
        <p:spPr>
          <a:xfrm>
            <a:off x="815949" y="4185729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1193619" y="415592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4695853" y="415592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5946974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7774248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9601522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819124" y="4508128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1022869" y="4610249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1022869" y="4861533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812774" y="6339917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9290906" y="6339917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6/7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3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0" name="Google Shape;710;p23"/>
          <p:cNvSpPr txBox="1"/>
          <p:nvPr>
            <p:ph type="title"/>
          </p:nvPr>
        </p:nvSpPr>
        <p:spPr>
          <a:xfrm>
            <a:off x="812774" y="1025922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Hematologia Veterinária</a:t>
            </a:r>
            <a:endParaRPr sz="4800"/>
          </a:p>
        </p:txBody>
      </p:sp>
      <p:sp>
        <p:nvSpPr>
          <p:cNvPr id="711" name="Google Shape;711;p23"/>
          <p:cNvSpPr/>
          <p:nvPr/>
        </p:nvSpPr>
        <p:spPr>
          <a:xfrm>
            <a:off x="812774" y="1767495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Pós-Graduação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12" name="Google Shape;712;p23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23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 E LOCALIZAÇÃO PROPOSTOS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812774" y="2863738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LOCALIZAÇÃO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812774" y="3191210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 30% · Capital SP 25% ·</a:t>
            </a:r>
            <a:endParaRPr b="0" i="0" sz="1500" u="none" cap="none" strike="noStrike">
              <a:solidFill>
                <a:srgbClr val="3A3D38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 20% · Sul 14% · MG 11%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6095914" y="2863738"/>
            <a:ext cx="272081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IDADE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6095914" y="3191210"/>
            <a:ext cx="2720817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 22 a 35 anos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8737485" y="2863738"/>
            <a:ext cx="272092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FORMATOS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8737485" y="3191210"/>
            <a:ext cx="2720929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Estático e vídeo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812774" y="3724659"/>
            <a:ext cx="544163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PÚBLICO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812774" y="4052131"/>
            <a:ext cx="5441635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· Veterinários formados: Medicina veterinária ou Médico Veterinário, E formação universitária ou mestrado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6095914" y="3724659"/>
            <a:ext cx="544174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CRIATIVO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6095914" y="4052131"/>
            <a:ext cx="5441746" cy="55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“Pós em Hematologia para médicos veterinários formados”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24" name="Google Shape;724;p23"/>
          <p:cNvCxnSpPr/>
          <p:nvPr/>
        </p:nvCxnSpPr>
        <p:spPr>
          <a:xfrm>
            <a:off x="825474" y="4940995"/>
            <a:ext cx="0" cy="487360"/>
          </a:xfrm>
          <a:prstGeom prst="straightConnector1">
            <a:avLst/>
          </a:prstGeom>
          <a:noFill/>
          <a:ln cap="flat" cmpd="sng" w="254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23"/>
          <p:cNvSpPr/>
          <p:nvPr/>
        </p:nvSpPr>
        <p:spPr>
          <a:xfrm>
            <a:off x="947942" y="4953695"/>
            <a:ext cx="10744158" cy="4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Observação: com a unidade da UFAPE em Goiás, recomendamos ampliar a oferta de cursos nessa praça, que receberá mais visibilidade.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812774" y="6238304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10547694" y="6238304"/>
            <a:ext cx="83146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7/7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4"/>
          <p:cNvSpPr/>
          <p:nvPr/>
        </p:nvSpPr>
        <p:spPr>
          <a:xfrm>
            <a:off x="812774" y="457138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TIER 1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34" name="Google Shape;734;p24"/>
          <p:cNvSpPr txBox="1"/>
          <p:nvPr>
            <p:ph type="title"/>
          </p:nvPr>
        </p:nvSpPr>
        <p:spPr>
          <a:xfrm>
            <a:off x="812774" y="759185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Hematologia Veterinária</a:t>
            </a:r>
            <a:endParaRPr sz="4800"/>
          </a:p>
        </p:txBody>
      </p:sp>
      <p:sp>
        <p:nvSpPr>
          <p:cNvPr id="735" name="Google Shape;735;p24"/>
          <p:cNvSpPr/>
          <p:nvPr/>
        </p:nvSpPr>
        <p:spPr>
          <a:xfrm>
            <a:off x="812774" y="1488058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Divisão de investimento · mesma divisão para qualquer verba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36" name="Google Shape;736;p24"/>
          <p:cNvCxnSpPr/>
          <p:nvPr/>
        </p:nvCxnSpPr>
        <p:spPr>
          <a:xfrm>
            <a:off x="812774" y="1846746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7" name="Google Shape;737;p24"/>
          <p:cNvSpPr/>
          <p:nvPr/>
        </p:nvSpPr>
        <p:spPr>
          <a:xfrm>
            <a:off x="812774" y="1939427"/>
            <a:ext cx="10883381" cy="23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CAMPANHAS, UMA POR REGIÃO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38" name="Google Shape;738;p24"/>
          <p:cNvSpPr/>
          <p:nvPr/>
        </p:nvSpPr>
        <p:spPr>
          <a:xfrm>
            <a:off x="812774" y="2253977"/>
            <a:ext cx="3124257" cy="355521"/>
          </a:xfrm>
          <a:custGeom>
            <a:rect b="b" l="l" r="r" t="t"/>
            <a:pathLst>
              <a:path extrusionOk="0" h="355521" w="3124257">
                <a:moveTo>
                  <a:pt x="76200" y="0"/>
                </a:moveTo>
                <a:lnTo>
                  <a:pt x="3124257" y="0"/>
                </a:lnTo>
                <a:lnTo>
                  <a:pt x="3124257" y="355521"/>
                </a:lnTo>
                <a:lnTo>
                  <a:pt x="76200" y="355521"/>
                </a:lnTo>
                <a:cubicBezTo>
                  <a:pt x="34116" y="355521"/>
                  <a:pt x="0" y="321405"/>
                  <a:pt x="0" y="27932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F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39" name="Google Shape;739;p24"/>
          <p:cNvSpPr/>
          <p:nvPr/>
        </p:nvSpPr>
        <p:spPr>
          <a:xfrm>
            <a:off x="3975072" y="2253977"/>
            <a:ext cx="2603638" cy="355521"/>
          </a:xfrm>
          <a:prstGeom prst="rect">
            <a:avLst/>
          </a:prstGeom>
          <a:solidFill>
            <a:srgbClr val="34507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0" name="Google Shape;740;p24"/>
          <p:cNvSpPr/>
          <p:nvPr/>
        </p:nvSpPr>
        <p:spPr>
          <a:xfrm>
            <a:off x="6616750" y="2253977"/>
            <a:ext cx="2082802" cy="355521"/>
          </a:xfrm>
          <a:prstGeom prst="rect">
            <a:avLst/>
          </a:prstGeom>
          <a:solidFill>
            <a:srgbClr val="8A611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1" name="Google Shape;741;p24"/>
          <p:cNvSpPr/>
          <p:nvPr/>
        </p:nvSpPr>
        <p:spPr>
          <a:xfrm>
            <a:off x="8737593" y="2253977"/>
            <a:ext cx="1457950" cy="355521"/>
          </a:xfrm>
          <a:prstGeom prst="rect">
            <a:avLst/>
          </a:prstGeom>
          <a:solidFill>
            <a:srgbClr val="D9B36A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14%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2" name="Google Shape;742;p24"/>
          <p:cNvSpPr/>
          <p:nvPr/>
        </p:nvSpPr>
        <p:spPr>
          <a:xfrm>
            <a:off x="10233585" y="2253977"/>
            <a:ext cx="1145579" cy="355521"/>
          </a:xfrm>
          <a:custGeom>
            <a:rect b="b" l="l" r="r" t="t"/>
            <a:pathLst>
              <a:path extrusionOk="0" h="355521" w="1145579">
                <a:moveTo>
                  <a:pt x="0" y="0"/>
                </a:moveTo>
                <a:lnTo>
                  <a:pt x="1069379" y="0"/>
                </a:lnTo>
                <a:cubicBezTo>
                  <a:pt x="1089588" y="0"/>
                  <a:pt x="1108970" y="8028"/>
                  <a:pt x="1123261" y="22318"/>
                </a:cubicBezTo>
                <a:cubicBezTo>
                  <a:pt x="1137551" y="36609"/>
                  <a:pt x="1145579" y="55991"/>
                  <a:pt x="1145579" y="76200"/>
                </a:cubicBezTo>
                <a:lnTo>
                  <a:pt x="1145579" y="279321"/>
                </a:lnTo>
                <a:cubicBezTo>
                  <a:pt x="1145579" y="321405"/>
                  <a:pt x="1111463" y="355521"/>
                  <a:pt x="1069379" y="355521"/>
                </a:cubicBezTo>
                <a:lnTo>
                  <a:pt x="0" y="355521"/>
                </a:lnTo>
                <a:lnTo>
                  <a:pt x="0" y="0"/>
                </a:lnTo>
                <a:close/>
              </a:path>
            </a:pathLst>
          </a:custGeom>
          <a:solidFill>
            <a:srgbClr val="F0E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600"/>
              <a:buFont typeface="Source Serif 4"/>
              <a:buNone/>
            </a:pPr>
            <a:r>
              <a:rPr b="1" i="0" lang="en-US" sz="1600" u="none" cap="none" strike="noStrike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11%</a:t>
            </a:r>
            <a:endParaRPr b="0" i="0" sz="1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43" name="Google Shape;743;p24"/>
          <p:cNvCxnSpPr/>
          <p:nvPr/>
        </p:nvCxnSpPr>
        <p:spPr>
          <a:xfrm>
            <a:off x="812774" y="3026277"/>
            <a:ext cx="10566389" cy="0"/>
          </a:xfrm>
          <a:prstGeom prst="straightConnector1">
            <a:avLst/>
          </a:prstGeom>
          <a:noFill/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4" name="Google Shape;744;p24"/>
          <p:cNvSpPr/>
          <p:nvPr/>
        </p:nvSpPr>
        <p:spPr>
          <a:xfrm>
            <a:off x="1193619" y="2774379"/>
            <a:ext cx="355506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CAMPANHA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5" name="Google Shape;745;p24"/>
          <p:cNvSpPr/>
          <p:nvPr/>
        </p:nvSpPr>
        <p:spPr>
          <a:xfrm>
            <a:off x="4695853" y="2774379"/>
            <a:ext cx="120137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5946974" y="2774379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R$ 2.000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7" name="Google Shape;747;p24"/>
          <p:cNvSpPr/>
          <p:nvPr/>
        </p:nvSpPr>
        <p:spPr>
          <a:xfrm>
            <a:off x="7774248" y="2774379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48" name="Google Shape;748;p24"/>
          <p:cNvSpPr/>
          <p:nvPr/>
        </p:nvSpPr>
        <p:spPr>
          <a:xfrm>
            <a:off x="9601522" y="2774379"/>
            <a:ext cx="1777532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COM R$ 5.000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49" name="Google Shape;749;p24"/>
          <p:cNvCxnSpPr/>
          <p:nvPr/>
        </p:nvCxnSpPr>
        <p:spPr>
          <a:xfrm>
            <a:off x="812774" y="330552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0" name="Google Shape;750;p24"/>
          <p:cNvSpPr/>
          <p:nvPr/>
        </p:nvSpPr>
        <p:spPr>
          <a:xfrm>
            <a:off x="812774" y="3078274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0F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4"/>
          <p:cNvSpPr/>
          <p:nvPr/>
        </p:nvSpPr>
        <p:spPr>
          <a:xfrm>
            <a:off x="1193619" y="305164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Estado de SP sem a capital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52" name="Google Shape;752;p24"/>
          <p:cNvSpPr/>
          <p:nvPr/>
        </p:nvSpPr>
        <p:spPr>
          <a:xfrm>
            <a:off x="4695853" y="305164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5946974" y="305164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54" name="Google Shape;754;p24"/>
          <p:cNvSpPr/>
          <p:nvPr/>
        </p:nvSpPr>
        <p:spPr>
          <a:xfrm>
            <a:off x="7774248" y="305164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R$ 900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55" name="Google Shape;755;p24"/>
          <p:cNvSpPr/>
          <p:nvPr/>
        </p:nvSpPr>
        <p:spPr>
          <a:xfrm>
            <a:off x="9601522" y="305164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56" name="Google Shape;756;p24"/>
          <p:cNvCxnSpPr/>
          <p:nvPr/>
        </p:nvCxnSpPr>
        <p:spPr>
          <a:xfrm>
            <a:off x="812774" y="3581592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24"/>
          <p:cNvSpPr/>
          <p:nvPr/>
        </p:nvSpPr>
        <p:spPr>
          <a:xfrm>
            <a:off x="812774" y="335435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3450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4"/>
          <p:cNvSpPr/>
          <p:nvPr/>
        </p:nvSpPr>
        <p:spPr>
          <a:xfrm>
            <a:off x="1193619" y="332772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Capital SP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59" name="Google Shape;759;p24"/>
          <p:cNvSpPr/>
          <p:nvPr/>
        </p:nvSpPr>
        <p:spPr>
          <a:xfrm>
            <a:off x="4695853" y="332772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0" name="Google Shape;760;p24"/>
          <p:cNvSpPr/>
          <p:nvPr/>
        </p:nvSpPr>
        <p:spPr>
          <a:xfrm>
            <a:off x="5946974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1" name="Google Shape;761;p24"/>
          <p:cNvSpPr/>
          <p:nvPr/>
        </p:nvSpPr>
        <p:spPr>
          <a:xfrm>
            <a:off x="7774248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2" name="Google Shape;762;p24"/>
          <p:cNvSpPr/>
          <p:nvPr/>
        </p:nvSpPr>
        <p:spPr>
          <a:xfrm>
            <a:off x="9601522" y="332772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R$ 1.250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63" name="Google Shape;763;p24"/>
          <p:cNvCxnSpPr/>
          <p:nvPr/>
        </p:nvCxnSpPr>
        <p:spPr>
          <a:xfrm>
            <a:off x="812774" y="385766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24"/>
          <p:cNvSpPr/>
          <p:nvPr/>
        </p:nvSpPr>
        <p:spPr>
          <a:xfrm>
            <a:off x="812774" y="3630414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8A61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1193619" y="360378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Goiás + DF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4695853" y="360378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5946974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7774248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R$ 600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69" name="Google Shape;769;p24"/>
          <p:cNvSpPr/>
          <p:nvPr/>
        </p:nvSpPr>
        <p:spPr>
          <a:xfrm>
            <a:off x="9601522" y="360378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R$ 1.000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70" name="Google Shape;770;p24"/>
          <p:cNvCxnSpPr/>
          <p:nvPr/>
        </p:nvCxnSpPr>
        <p:spPr>
          <a:xfrm>
            <a:off x="812774" y="4133731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1" name="Google Shape;771;p24"/>
          <p:cNvSpPr/>
          <p:nvPr/>
        </p:nvSpPr>
        <p:spPr>
          <a:xfrm>
            <a:off x="812774" y="3906490"/>
            <a:ext cx="177706" cy="177706"/>
          </a:xfrm>
          <a:prstGeom prst="roundRect">
            <a:avLst>
              <a:gd fmla="val 21440" name="adj"/>
            </a:avLst>
          </a:prstGeom>
          <a:solidFill>
            <a:srgbClr val="D9B3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4"/>
          <p:cNvSpPr/>
          <p:nvPr/>
        </p:nvSpPr>
        <p:spPr>
          <a:xfrm>
            <a:off x="1193619" y="3879862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Sul: RS, PR e SC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4695853" y="3879862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5946974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R$ 280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7774248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R$ 420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9601522" y="3879862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R$ 700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77" name="Google Shape;777;p24"/>
          <p:cNvCxnSpPr/>
          <p:nvPr/>
        </p:nvCxnSpPr>
        <p:spPr>
          <a:xfrm>
            <a:off x="812774" y="4409795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E6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24"/>
          <p:cNvSpPr/>
          <p:nvPr/>
        </p:nvSpPr>
        <p:spPr>
          <a:xfrm>
            <a:off x="815949" y="4185729"/>
            <a:ext cx="171356" cy="171356"/>
          </a:xfrm>
          <a:prstGeom prst="roundRect">
            <a:avLst>
              <a:gd fmla="val 20382" name="adj"/>
            </a:avLst>
          </a:prstGeom>
          <a:solidFill>
            <a:srgbClr val="F0E1BF"/>
          </a:solidFill>
          <a:ln cap="flat" cmpd="sng" w="9525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1193619" y="4155926"/>
            <a:ext cx="3555064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Minas Gerais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4695853" y="4155926"/>
            <a:ext cx="1201379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11%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5946974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R$ 220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7774248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300"/>
              <a:buFont typeface="Funnel Display"/>
              <a:buNone/>
            </a:pPr>
            <a:r>
              <a:rPr b="1" i="0" lang="en-US" sz="13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R$ 330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9601522" y="4155926"/>
            <a:ext cx="1777532" cy="25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R$ 550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819124" y="4508128"/>
            <a:ext cx="10553689" cy="917675"/>
          </a:xfrm>
          <a:prstGeom prst="roundRect">
            <a:avLst>
              <a:gd fmla="val 10379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4"/>
          <p:cNvSpPr/>
          <p:nvPr/>
        </p:nvSpPr>
        <p:spPr>
          <a:xfrm>
            <a:off x="1022869" y="4610249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DEFESA DA ESTRATÉGIA · BUDGET INICIAL DE R$ 3.000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1022869" y="4861533"/>
            <a:ext cx="10450584" cy="48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verba segue a base de cadastros. São Paulo recebe 55% por concentrar metade da base, e Goiás + DF tem peso extra pela unidade. Após as primeiras semanas, a verba migra para as regiões com menor custo por matrícula.</a:t>
            </a:r>
            <a:endParaRPr b="0" i="0" sz="13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812774" y="6339917"/>
            <a:ext cx="501111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 · Plano por curso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88" name="Google Shape;788;p24"/>
          <p:cNvSpPr/>
          <p:nvPr/>
        </p:nvSpPr>
        <p:spPr>
          <a:xfrm>
            <a:off x="9290906" y="6339917"/>
            <a:ext cx="208825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Curso 7/7 · Investimento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7"/>
          <p:cNvSpPr/>
          <p:nvPr/>
        </p:nvSpPr>
        <p:spPr>
          <a:xfrm>
            <a:off x="812774" y="711150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PRÓXIMOS PASSOS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95" name="Google Shape;795;p27"/>
          <p:cNvSpPr txBox="1"/>
          <p:nvPr>
            <p:ph type="title"/>
          </p:nvPr>
        </p:nvSpPr>
        <p:spPr>
          <a:xfrm>
            <a:off x="812774" y="1025909"/>
            <a:ext cx="10883381" cy="66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F1F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 semanal do funil</a:t>
            </a:r>
            <a:endParaRPr sz="4800"/>
          </a:p>
        </p:txBody>
      </p:sp>
      <p:sp>
        <p:nvSpPr>
          <p:cNvPr id="796" name="Google Shape;796;p27"/>
          <p:cNvSpPr/>
          <p:nvPr/>
        </p:nvSpPr>
        <p:spPr>
          <a:xfrm>
            <a:off x="812774" y="1767495"/>
            <a:ext cx="10883381" cy="292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500"/>
              <a:buFont typeface="Funnel Display"/>
              <a:buNone/>
            </a:pPr>
            <a:r>
              <a:rPr b="0" i="1" lang="en-US" sz="15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Marketing e Vendas olhando para os mesmos números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797" name="Google Shape;797;p27"/>
          <p:cNvCxnSpPr/>
          <p:nvPr/>
        </p:nvCxnSpPr>
        <p:spPr>
          <a:xfrm>
            <a:off x="812774" y="2138908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E6D3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8" name="Google Shape;798;p27"/>
          <p:cNvSpPr/>
          <p:nvPr/>
        </p:nvSpPr>
        <p:spPr>
          <a:xfrm>
            <a:off x="812774" y="2447489"/>
            <a:ext cx="10883381" cy="238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781E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8781E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POR QUE A COMBINAÇÃO DE ESTRATÉGIAS FUNCIONA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799" name="Google Shape;799;p27"/>
          <p:cNvSpPr/>
          <p:nvPr/>
        </p:nvSpPr>
        <p:spPr>
          <a:xfrm>
            <a:off x="812774" y="2863726"/>
            <a:ext cx="33487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PRIORIZAR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0" name="Google Shape;800;p27"/>
          <p:cNvSpPr/>
          <p:nvPr/>
        </p:nvSpPr>
        <p:spPr>
          <a:xfrm>
            <a:off x="812774" y="3191210"/>
            <a:ext cx="3348741" cy="825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As praças core, como São Paulo, concentram a maior parte da verba e da base de cadastros.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1" name="Google Shape;801;p27"/>
          <p:cNvSpPr/>
          <p:nvPr/>
        </p:nvSpPr>
        <p:spPr>
          <a:xfrm>
            <a:off x="4470366" y="2863726"/>
            <a:ext cx="33487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TESTAR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2" name="Google Shape;802;p27"/>
          <p:cNvSpPr/>
          <p:nvPr/>
        </p:nvSpPr>
        <p:spPr>
          <a:xfrm>
            <a:off x="4470366" y="3191210"/>
            <a:ext cx="3348741" cy="825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mesma estrutura mede a aderência de regiões promissoras: Goiás + DF, Sul e Minas Gerais.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3" name="Google Shape;803;p27"/>
          <p:cNvSpPr/>
          <p:nvPr/>
        </p:nvSpPr>
        <p:spPr>
          <a:xfrm>
            <a:off x="8127958" y="2863726"/>
            <a:ext cx="33487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2"/>
              </a:buClr>
              <a:buSzPts val="1200"/>
              <a:buFont typeface="Funnel Display"/>
              <a:buNone/>
            </a:pPr>
            <a:r>
              <a:rPr b="1" i="0" lang="en-US" sz="1200" u="none" cap="none" strike="noStrike">
                <a:solidFill>
                  <a:srgbClr val="121412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CONECTAR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4" name="Google Shape;804;p27"/>
          <p:cNvSpPr/>
          <p:nvPr/>
        </p:nvSpPr>
        <p:spPr>
          <a:xfrm>
            <a:off x="8127958" y="3191210"/>
            <a:ext cx="3348741" cy="1092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D38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3A3D3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Cada curso terá aderência diferente em cada estado. Só o fim do funil, com CRM e comercial, mostra onde a matrícula acontece.</a:t>
            </a:r>
            <a:endParaRPr b="0" i="0" sz="1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5" name="Google Shape;805;p27"/>
          <p:cNvSpPr/>
          <p:nvPr/>
        </p:nvSpPr>
        <p:spPr>
          <a:xfrm>
            <a:off x="819124" y="4670723"/>
            <a:ext cx="10553689" cy="1067774"/>
          </a:xfrm>
          <a:prstGeom prst="roundRect">
            <a:avLst>
              <a:gd fmla="val 8920" name="adj"/>
            </a:avLst>
          </a:prstGeom>
          <a:solidFill>
            <a:srgbClr val="F6EAD3"/>
          </a:solidFill>
          <a:ln cap="flat" cmpd="sng" w="12700">
            <a:solidFill>
              <a:srgbClr val="D9B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7"/>
          <p:cNvSpPr/>
          <p:nvPr/>
        </p:nvSpPr>
        <p:spPr>
          <a:xfrm>
            <a:off x="1022869" y="4823718"/>
            <a:ext cx="1045058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116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8A6116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RECOMENDAÇÃO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7" name="Google Shape;807;p27"/>
          <p:cNvSpPr/>
          <p:nvPr/>
        </p:nvSpPr>
        <p:spPr>
          <a:xfrm>
            <a:off x="1022875" y="5087725"/>
            <a:ext cx="1019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400"/>
              <a:buFont typeface="Funnel Display"/>
              <a:buNone/>
            </a:pPr>
            <a:r>
              <a:rPr b="1" i="0" lang="en-US" sz="1400" u="none" cap="none" strike="noStrike">
                <a:solidFill>
                  <a:srgbClr val="0F1F3D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Utilização de dashboards e sistemas TGH para Cruzar toda semana a performance das campanhas com os dados do CRM e do comercial, para identificar os cursos top sellers e os possíveis gargalos.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8" name="Google Shape;808;p27"/>
          <p:cNvSpPr/>
          <p:nvPr/>
        </p:nvSpPr>
        <p:spPr>
          <a:xfrm>
            <a:off x="812774" y="6238292"/>
            <a:ext cx="3525818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UFAPE Intercursos · Plano de campanhas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9" name="Google Shape;809;p27"/>
          <p:cNvSpPr/>
          <p:nvPr/>
        </p:nvSpPr>
        <p:spPr>
          <a:xfrm>
            <a:off x="9931560" y="6238292"/>
            <a:ext cx="1447603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259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5D6259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Próximos passos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D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8"/>
          <p:cNvSpPr/>
          <p:nvPr/>
        </p:nvSpPr>
        <p:spPr>
          <a:xfrm>
            <a:off x="812774" y="812775"/>
            <a:ext cx="1088338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CONCLUSÃO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16" name="Google Shape;816;p28"/>
          <p:cNvSpPr txBox="1"/>
          <p:nvPr>
            <p:ph type="title"/>
          </p:nvPr>
        </p:nvSpPr>
        <p:spPr>
          <a:xfrm>
            <a:off x="812774" y="1328948"/>
            <a:ext cx="10464691" cy="1183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4800"/>
              <a:buFont typeface="Funnel Display"/>
              <a:buNone/>
            </a:pPr>
            <a:r>
              <a:rPr b="0" i="0" lang="en-US" sz="4800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Obrigado. </a:t>
            </a:r>
            <a:r>
              <a:rPr b="0" i="0" lang="en-US" sz="4800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Plano pronto para entrar no ar.</a:t>
            </a:r>
            <a:endParaRPr sz="4800"/>
          </a:p>
        </p:txBody>
      </p:sp>
      <p:sp>
        <p:nvSpPr>
          <p:cNvPr id="817" name="Google Shape;817;p28"/>
          <p:cNvSpPr/>
          <p:nvPr/>
        </p:nvSpPr>
        <p:spPr>
          <a:xfrm>
            <a:off x="815949" y="2744205"/>
            <a:ext cx="10560039" cy="1122273"/>
          </a:xfrm>
          <a:prstGeom prst="roundRect">
            <a:avLst>
              <a:gd fmla="val 8770" name="adj"/>
            </a:avLst>
          </a:prstGeom>
          <a:solidFill>
            <a:srgbClr val="16294D"/>
          </a:solidFill>
          <a:ln cap="flat" cmpd="sng" w="9525">
            <a:solidFill>
              <a:srgbClr val="345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8"/>
          <p:cNvSpPr/>
          <p:nvPr/>
        </p:nvSpPr>
        <p:spPr>
          <a:xfrm>
            <a:off x="1073627" y="2925688"/>
            <a:ext cx="2996004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INVESTIMENTO TOTAL MENSAL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19" name="Google Shape;819;p28"/>
          <p:cNvSpPr/>
          <p:nvPr/>
        </p:nvSpPr>
        <p:spPr>
          <a:xfrm>
            <a:off x="1073627" y="3176972"/>
            <a:ext cx="2719698" cy="53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4000"/>
              <a:buFont typeface="Funnel Display"/>
              <a:buNone/>
            </a:pPr>
            <a:r>
              <a:rPr b="0" i="0" lang="en-US" sz="4000" u="none" cap="none" strike="noStrike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R$ 21.000</a:t>
            </a:r>
            <a:endParaRPr b="0" i="0" sz="40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820" name="Google Shape;820;p28"/>
          <p:cNvCxnSpPr/>
          <p:nvPr/>
        </p:nvCxnSpPr>
        <p:spPr>
          <a:xfrm>
            <a:off x="4072806" y="2935908"/>
            <a:ext cx="0" cy="738866"/>
          </a:xfrm>
          <a:prstGeom prst="straightConnector1">
            <a:avLst/>
          </a:prstGeom>
          <a:noFill/>
          <a:ln cap="flat" cmpd="sng" w="9525">
            <a:solidFill>
              <a:srgbClr val="3450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1" name="Google Shape;821;p28"/>
          <p:cNvSpPr/>
          <p:nvPr/>
        </p:nvSpPr>
        <p:spPr>
          <a:xfrm>
            <a:off x="4381350" y="2935908"/>
            <a:ext cx="6939069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2EA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F2F2E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7 cursos tier 1 × R$ 3.000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4381350" y="3248273"/>
            <a:ext cx="6939069" cy="451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Por região: Estado de SP R$ 6.300 · Capital SP R$ 5.250 · Goiás + DF R$ 4.200 · Sul R$ 2.940 · MG R$ 2.310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823" name="Google Shape;823;p28"/>
          <p:cNvCxnSpPr/>
          <p:nvPr/>
        </p:nvCxnSpPr>
        <p:spPr>
          <a:xfrm>
            <a:off x="812774" y="4126719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3450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28"/>
          <p:cNvSpPr/>
          <p:nvPr/>
        </p:nvSpPr>
        <p:spPr>
          <a:xfrm>
            <a:off x="812774" y="4333639"/>
            <a:ext cx="3366205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ONDE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812774" y="4623085"/>
            <a:ext cx="3366205" cy="772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Cinco praças com 76,7% da base, São Paulo com 55% da verba e peso extra para Goiás + DF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826" name="Google Shape;826;p28"/>
          <p:cNvCxnSpPr/>
          <p:nvPr/>
        </p:nvCxnSpPr>
        <p:spPr>
          <a:xfrm>
            <a:off x="4338007" y="4130501"/>
            <a:ext cx="0" cy="1239269"/>
          </a:xfrm>
          <a:prstGeom prst="straightConnector1">
            <a:avLst/>
          </a:prstGeom>
          <a:noFill/>
          <a:ln cap="flat" cmpd="sng" w="9525">
            <a:solidFill>
              <a:srgbClr val="3450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28"/>
          <p:cNvSpPr/>
          <p:nvPr/>
        </p:nvSpPr>
        <p:spPr>
          <a:xfrm>
            <a:off x="4595684" y="4333639"/>
            <a:ext cx="3097639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QUEM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28" name="Google Shape;828;p28"/>
          <p:cNvSpPr/>
          <p:nvPr/>
        </p:nvSpPr>
        <p:spPr>
          <a:xfrm>
            <a:off x="4595684" y="4623085"/>
            <a:ext cx="3097639" cy="772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Veterinários formados como público base, com a especialidade de cada curso no criativo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829" name="Google Shape;829;p28"/>
          <p:cNvCxnSpPr/>
          <p:nvPr/>
        </p:nvCxnSpPr>
        <p:spPr>
          <a:xfrm>
            <a:off x="7860172" y="4130501"/>
            <a:ext cx="0" cy="1239269"/>
          </a:xfrm>
          <a:prstGeom prst="straightConnector1">
            <a:avLst/>
          </a:prstGeom>
          <a:noFill/>
          <a:ln cap="flat" cmpd="sng" w="9525">
            <a:solidFill>
              <a:srgbClr val="3450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p28"/>
          <p:cNvSpPr/>
          <p:nvPr/>
        </p:nvSpPr>
        <p:spPr>
          <a:xfrm>
            <a:off x="8117850" y="4333639"/>
            <a:ext cx="3359041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FF83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D9FF83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QUANTO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8117850" y="4623085"/>
            <a:ext cx="3359041" cy="772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400"/>
              <a:buFont typeface="Funnel Display"/>
              <a:buNone/>
            </a:pPr>
            <a:r>
              <a:rPr b="0" i="0" lang="en-US" sz="14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R$ 3.000 por curso, sempre com a mesma divisão por região</a:t>
            </a:r>
            <a:endParaRPr b="0" i="0" sz="1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cxnSp>
        <p:nvCxnSpPr>
          <p:cNvPr id="832" name="Google Shape;832;p28"/>
          <p:cNvCxnSpPr/>
          <p:nvPr/>
        </p:nvCxnSpPr>
        <p:spPr>
          <a:xfrm>
            <a:off x="812774" y="5675747"/>
            <a:ext cx="10566389" cy="0"/>
          </a:xfrm>
          <a:prstGeom prst="straightConnector1">
            <a:avLst/>
          </a:prstGeom>
          <a:noFill/>
          <a:ln cap="flat" cmpd="sng" w="9525">
            <a:solidFill>
              <a:srgbClr val="F2F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28"/>
          <p:cNvSpPr/>
          <p:nvPr/>
        </p:nvSpPr>
        <p:spPr>
          <a:xfrm>
            <a:off x="812774" y="5831917"/>
            <a:ext cx="1558857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OUTUBRO 2026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34" name="Google Shape;834;p28"/>
          <p:cNvSpPr/>
          <p:nvPr/>
        </p:nvSpPr>
        <p:spPr>
          <a:xfrm>
            <a:off x="9496458" y="5831917"/>
            <a:ext cx="1882706" cy="238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8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A9B4C8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GROWTH HUB</a:t>
            </a:r>
            <a:endParaRPr b="0" i="0" sz="1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FAPE · Plano de campanhas">
  <a:themeElements>
    <a:clrScheme name="UFAPE · Plano de campanhas">
      <a:dk1>
        <a:srgbClr val="0F1F3D"/>
      </a:dk1>
      <a:lt1>
        <a:srgbClr val="FFFFFF"/>
      </a:lt1>
      <a:dk2>
        <a:srgbClr val="4B576E"/>
      </a:dk2>
      <a:lt2>
        <a:srgbClr val="E7E9EC"/>
      </a:lt2>
      <a:accent1>
        <a:srgbClr val="8A6116"/>
      </a:accent1>
      <a:accent2>
        <a:srgbClr val="A8781E"/>
      </a:accent2>
      <a:accent3>
        <a:srgbClr val="34507F"/>
      </a:accent3>
      <a:accent4>
        <a:srgbClr val="D9B36A"/>
      </a:accent4>
      <a:accent5>
        <a:srgbClr val="F0E1BF"/>
      </a:accent5>
      <a:accent6>
        <a:srgbClr val="D9FF8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FAPE · Plano de campanhas">
  <a:themeElements>
    <a:clrScheme name="UFAPE · Plano de campanhas">
      <a:dk1>
        <a:srgbClr val="0F1F3D"/>
      </a:dk1>
      <a:lt1>
        <a:srgbClr val="FFFFFF"/>
      </a:lt1>
      <a:dk2>
        <a:srgbClr val="4B576E"/>
      </a:dk2>
      <a:lt2>
        <a:srgbClr val="E7E9EC"/>
      </a:lt2>
      <a:accent1>
        <a:srgbClr val="8A6116"/>
      </a:accent1>
      <a:accent2>
        <a:srgbClr val="A8781E"/>
      </a:accent2>
      <a:accent3>
        <a:srgbClr val="34507F"/>
      </a:accent3>
      <a:accent4>
        <a:srgbClr val="D9B36A"/>
      </a:accent4>
      <a:accent5>
        <a:srgbClr val="F0E1BF"/>
      </a:accent5>
      <a:accent6>
        <a:srgbClr val="D9FF8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2026-10-19T12:44:13Z</dcterms:created>
</cp:coreProperties>
</file>